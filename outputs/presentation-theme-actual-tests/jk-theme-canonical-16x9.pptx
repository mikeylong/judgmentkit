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slides/charts/chart1.xml" ContentType="application/vnd.openxmlformats-officedocument.drawingml.chart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0b4a77a20204514" /><Relationship Type="http://schemas.openxmlformats.org/officeDocument/2006/relationships/extended-properties" Target="/docProps/app.xml" Id="R76b5c0c77a864543" /><Relationship Type="http://schemas.openxmlformats.org/officeDocument/2006/relationships/officeDocument" Target="/ppt/presentation.xml" Id="R83746fb3277c407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e72865c106e49be"/>
  </p:sldMasterIdLst>
  <p:notesMasterIdLst>
    <p:notesMasterId xmlns:r="http://schemas.openxmlformats.org/officeDocument/2006/relationships" r:id="Rf1f759d251f84597"/>
  </p:notesMasterIdLst>
  <p:sldIdLst>
    <p:sldId xmlns:r="http://schemas.openxmlformats.org/officeDocument/2006/relationships" id="256" r:id="R44561aa9e85b4835"/>
    <p:sldId xmlns:r="http://schemas.openxmlformats.org/officeDocument/2006/relationships" id="257" r:id="R82b0e4cb96df4275"/>
    <p:sldId xmlns:r="http://schemas.openxmlformats.org/officeDocument/2006/relationships" id="258" r:id="Re2b42f8d9f92445a"/>
    <p:sldId xmlns:r="http://schemas.openxmlformats.org/officeDocument/2006/relationships" id="259" r:id="R16b53eb4cf5a4da9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c36a18ca0ed417c" /><Relationship Type="http://schemas.openxmlformats.org/officeDocument/2006/relationships/slideMaster" Target="/ppt/slideMasters/slideMaster1.xml" Id="Rfe72865c106e49be" /><Relationship Type="http://schemas.openxmlformats.org/officeDocument/2006/relationships/notesMaster" Target="/ppt/notesMasters/notesMaster1.xml" Id="Rf1f759d251f84597" /><Relationship Type="http://schemas.openxmlformats.org/officeDocument/2006/relationships/presProps" Target="/ppt/presProps.xml" Id="Rbe746f445e4341f6" /><Relationship Type="http://schemas.openxmlformats.org/officeDocument/2006/relationships/tableStyles" Target="/ppt/tableStyles.xml" Id="R2a5fa4ffa2d34cc9" /><Relationship Type="http://schemas.openxmlformats.org/officeDocument/2006/relationships/slide" Target="/ppt/slides/slide1.xml" Id="R44561aa9e85b4835" /><Relationship Type="http://schemas.openxmlformats.org/officeDocument/2006/relationships/slide" Target="/ppt/slides/slide2.xml" Id="R82b0e4cb96df4275" /><Relationship Type="http://schemas.openxmlformats.org/officeDocument/2006/relationships/slide" Target="/ppt/slides/slide3.xml" Id="Re2b42f8d9f92445a" /><Relationship Type="http://schemas.openxmlformats.org/officeDocument/2006/relationships/slide" Target="/ppt/slides/slide4.xml" Id="R16b53eb4cf5a4da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52d97bdf684429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JudgmentKit Light">
      <a:dk1>
        <a:srgbClr val="171717"/>
      </a:dk1>
      <a:lt1>
        <a:srgbClr val="FFFFFF"/>
      </a:lt1>
      <a:dk2>
        <a:srgbClr val="666666"/>
      </a:dk2>
      <a:lt2>
        <a:srgbClr val="F4F4F4"/>
      </a:lt2>
      <a:accent1>
        <a:srgbClr val="156082"/>
      </a:accent1>
      <a:accent2>
        <a:srgbClr val="467886"/>
      </a:accent2>
      <a:accent3>
        <a:srgbClr val="2E6B48"/>
      </a:accent3>
      <a:accent4>
        <a:srgbClr val="8A5A16"/>
      </a:accent4>
      <a:accent5>
        <a:srgbClr val="8F342F"/>
      </a:accent5>
      <a:accent6>
        <a:srgbClr val="D9D9D9"/>
      </a:accent6>
      <a:hlink>
        <a:srgbClr val="156082"/>
      </a:hlink>
      <a:folHlink>
        <a:srgbClr val="467886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JudgmentKit Ligh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8e8859ea41148fd" /><Relationship Type="http://schemas.openxmlformats.org/officeDocument/2006/relationships/notesMaster" Target="/ppt/notesMasters/notesMaster1.xml" Id="R678ab89656ee45b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aa45ccdf8084be9" /><Relationship Type="http://schemas.openxmlformats.org/officeDocument/2006/relationships/notesMaster" Target="/ppt/notesMasters/notesMaster1.xml" Id="R4077d7b8dfce475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f80c6d35f6a4b3a" /><Relationship Type="http://schemas.openxmlformats.org/officeDocument/2006/relationships/notesMaster" Target="/ppt/notesMasters/notesMaster1.xml" Id="R3cfb278f63f340f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2502d39e092400a" /><Relationship Type="http://schemas.openxmlformats.org/officeDocument/2006/relationships/notesMaster" Target="/ppt/notesMasters/notesMaster1.xml" Id="Rf4a889d16f09489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7a904d6f616411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2d5d573bc364f6e" /><Relationship Type="http://schemas.openxmlformats.org/officeDocument/2006/relationships/slideLayout" Target="/ppt/slideLayouts/slideLayout1.xml" Id="R9d46222f10ad406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d46222f10ad406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JudgmentKit Light">
      <a:dk1>
        <a:srgbClr val="171717"/>
      </a:dk1>
      <a:lt1>
        <a:srgbClr val="FFFFFF"/>
      </a:lt1>
      <a:dk2>
        <a:srgbClr val="666666"/>
      </a:dk2>
      <a:lt2>
        <a:srgbClr val="F4F4F4"/>
      </a:lt2>
      <a:accent1>
        <a:srgbClr val="156082"/>
      </a:accent1>
      <a:accent2>
        <a:srgbClr val="467886"/>
      </a:accent2>
      <a:accent3>
        <a:srgbClr val="2E6B48"/>
      </a:accent3>
      <a:accent4>
        <a:srgbClr val="8A5A16"/>
      </a:accent4>
      <a:accent5>
        <a:srgbClr val="8F342F"/>
      </a:accent5>
      <a:accent6>
        <a:srgbClr val="D9D9D9"/>
      </a:accent6>
      <a:hlink>
        <a:srgbClr val="156082"/>
      </a:hlink>
      <a:folHlink>
        <a:srgbClr val="467886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JudgmentKit Ligh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8bc14e66a74140" /><Relationship Type="http://schemas.openxmlformats.org/officeDocument/2006/relationships/notesSlide" Target="/ppt/notesSlides/notesSlide1.xml" Id="R47d4d5caece1416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7fb39cb53b4906" /><Relationship Type="http://schemas.openxmlformats.org/officeDocument/2006/relationships/notesSlide" Target="/ppt/notesSlides/notesSlide2.xml" Id="R7d47485965e24e2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571abb94374337" /><Relationship Type="http://schemas.openxmlformats.org/officeDocument/2006/relationships/chart" Target="/ppt/slides/charts/chart1.xml" Id="R8dcde1ec9f5b4bb9" /><Relationship Type="http://schemas.openxmlformats.org/officeDocument/2006/relationships/notesSlide" Target="/ppt/notesSlides/notesSlide3.xml" Id="R91c37758127948a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21c7e0f4f24231" /><Relationship Type="http://schemas.openxmlformats.org/officeDocument/2006/relationships/notesSlide" Target="/ppt/notesSlides/notesSlide4.xml" Id="Reade23ac75ee4727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col"/>
        <c:varyColors val="0"/>
        <c:ser>
          <c:idx val="0"/>
          <c:order val="0"/>
          <c:tx>
            <c:v>Coverage</c:v>
          </c:tx>
          <c:spPr>
            <a:solidFill xmlns:a="http://schemas.openxmlformats.org/drawingml/2006/main">
              <a:schemeClr val="accent1"/>
            </a:solidFill>
          </c:spPr>
          <c:dLbls/>
          <c:cat>
            <c:strLit>
              <c:ptCount val="3"/>
              <c:pt idx="0">
                <c:v>Theme</c:v>
              </c:pt>
              <c:pt idx="1">
                <c:v>Layout</c:v>
              </c:pt>
              <c:pt idx="2">
                <c:v>QA</c:v>
              </c:pt>
            </c:strLit>
          </c:cat>
          <c:val>
            <c:numLit>
              <c:formatCode>General</c:formatCode>
              <c:ptCount val="3"/>
              <c:pt idx="0">
                <c:v>16</c:v>
              </c:pt>
              <c:pt idx="1">
                <c:v>9</c:v>
              </c:pt>
              <c:pt idx="2">
                <c:v>7</c:v>
              </c:pt>
            </c:numLit>
          </c:val>
        </c:ser>
        <c:dLbls>
          <c:dLblPos val="outEnd"/>
          <c:showVal val="1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crosses val="autoZero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chemeClr val="accent6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es val="autoZero"/>
        <c:crossBetween val="between"/>
      </c:valAx>
    </c:plotArea>
    <c:plotVisOnly val="1"/>
  </c:chart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chemeClr val="bg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judgmentkit-title-block-eyebrow">
            <a:extLst xmlns:a="http://schemas.openxmlformats.org/drawingml/2006/main">
              <a:ext uri="{FF2B5EF4-FFF2-40B4-BE49-F238E27FC236}">
                <a16:creationId xmlns:a16="http://schemas.microsoft.com/office/drawing/2014/main" id="{49A5F0B4-AC03-4BAA-92BD-C2E66B92C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"/>
            <a:ext cx="108204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chemeClr val="tx2"/>
                </a:solidFill>
              </a:defRPr>
            </a:pPr>
            <a:r>
              <a:t>PRESENTATION THEME ACTUAL TEST</a:t>
            </a:r>
          </a:p>
        </p:txBody>
      </p:sp>
      <p:sp>
        <p:nvSpPr>
          <p:cNvPr id="2" name="judgmentkit-title-block-title">
            <a:extLst xmlns:a="http://schemas.openxmlformats.org/drawingml/2006/main">
              <a:ext uri="{FF2B5EF4-FFF2-40B4-BE49-F238E27FC236}">
                <a16:creationId xmlns:a16="http://schemas.microsoft.com/office/drawing/2014/main" id="{02D5873A-231C-446E-9452-4845A68E0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820400" cy="1428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chemeClr val="tx1"/>
                </a:solidFill>
              </a:defRPr>
            </a:pPr>
            <a:r>
              <a:t>The theme adapter gives decks a usable review structure</a:t>
            </a:r>
          </a:p>
        </p:txBody>
      </p:sp>
      <p:sp>
        <p:nvSpPr>
          <p:cNvPr id="3" name="judgmentkit-title-block-subtitle">
            <a:extLst xmlns:a="http://schemas.openxmlformats.org/drawingml/2006/main">
              <a:ext uri="{FF2B5EF4-FFF2-40B4-BE49-F238E27FC236}">
                <a16:creationId xmlns:a16="http://schemas.microsoft.com/office/drawing/2014/main" id="{491C57AE-2F23-4EF5-922B-C371E6A26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52700"/>
            <a:ext cx="6477000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chemeClr val="tx2"/>
                </a:solidFill>
              </a:defRPr>
            </a:pPr>
            <a:r>
              <a:t>Fixture deck for checking rendered size, component spacing, theme slots, and named text styles.</a:t>
            </a:r>
          </a:p>
        </p:txBody>
      </p:sp>
      <p:sp>
        <p:nvSpPr>
          <p:cNvPr id="4" name="judgmentkit-status-pill-surface">
            <a:extLst xmlns:a="http://schemas.openxmlformats.org/drawingml/2006/main">
              <a:ext uri="{FF2B5EF4-FFF2-40B4-BE49-F238E27FC236}">
                <a16:creationId xmlns:a16="http://schemas.microsoft.com/office/drawing/2014/main" id="{2754E1BC-C938-45E9-A506-AECCF034C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900" y="533400"/>
            <a:ext cx="12573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chemeClr val="bg2"/>
          </a:solidFill>
          <a:ln xmlns:a="http://schemas.openxmlformats.org/drawingml/2006/main" w="9525">
            <a:solidFill>
              <a:schemeClr val="accent3"/>
            </a:solidFill>
            <a:prstDash val="solid"/>
          </a:ln>
        </p:spPr>
      </p:sp>
      <p:sp>
        <p:nvSpPr>
          <p:cNvPr id="5" name="judgmentkit-status-pill-label">
            <a:extLst xmlns:a="http://schemas.openxmlformats.org/drawingml/2006/main">
              <a:ext uri="{FF2B5EF4-FFF2-40B4-BE49-F238E27FC236}">
                <a16:creationId xmlns:a16="http://schemas.microsoft.com/office/drawing/2014/main" id="{3471AC9A-38FF-4B00-9C77-BC741D8B9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600075"/>
            <a:ext cx="1028700" cy="200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chemeClr val="accent3"/>
                </a:solidFill>
              </a:defRPr>
            </a:pPr>
            <a:r>
              <a:t>Ready</a:t>
            </a:r>
          </a:p>
        </p:txBody>
      </p:sp>
      <p:sp>
        <p:nvSpPr>
          <p:cNvPr id="6" name="canonical-metric-1-surface">
            <a:extLst xmlns:a="http://schemas.openxmlformats.org/drawingml/2006/main">
              <a:ext uri="{FF2B5EF4-FFF2-40B4-BE49-F238E27FC236}">
                <a16:creationId xmlns:a16="http://schemas.microsoft.com/office/drawing/2014/main" id="{18FCD8F7-7474-4946-A060-D9B8E482C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29150"/>
            <a:ext cx="285750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chemeClr val="bg2"/>
          </a:solidFill>
          <a:ln xmlns:a="http://schemas.openxmlformats.org/drawingml/2006/main" w="9525">
            <a:solidFill>
              <a:schemeClr val="accent6"/>
            </a:solidFill>
            <a:prstDash val="solid"/>
          </a:ln>
        </p:spPr>
      </p:sp>
      <p:sp>
        <p:nvSpPr>
          <p:cNvPr id="7" name="canonical-metric-1-label">
            <a:extLst xmlns:a="http://schemas.openxmlformats.org/drawingml/2006/main">
              <a:ext uri="{FF2B5EF4-FFF2-40B4-BE49-F238E27FC236}">
                <a16:creationId xmlns:a16="http://schemas.microsoft.com/office/drawing/2014/main" id="{D3F30CEE-FD3B-41E4-A113-32DBBABBF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781550"/>
            <a:ext cx="25527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chemeClr val="tx2"/>
                </a:solidFill>
              </a:defRPr>
            </a:pPr>
            <a:r>
              <a:t>Layouts</a:t>
            </a:r>
          </a:p>
        </p:txBody>
      </p:sp>
      <p:sp>
        <p:nvSpPr>
          <p:cNvPr id="8" name="canonical-metric-1-value">
            <a:extLst xmlns:a="http://schemas.openxmlformats.org/drawingml/2006/main">
              <a:ext uri="{FF2B5EF4-FFF2-40B4-BE49-F238E27FC236}">
                <a16:creationId xmlns:a16="http://schemas.microsoft.com/office/drawing/2014/main" id="{DA7E7CE1-61C8-47C2-BF66-62C5C295B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105400"/>
            <a:ext cx="25527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chemeClr val="tx1"/>
                </a:solidFill>
              </a:defRPr>
            </a:pPr>
            <a:r>
              <a:t>3</a:t>
            </a:r>
          </a:p>
        </p:txBody>
      </p:sp>
      <p:sp>
        <p:nvSpPr>
          <p:cNvPr id="9" name="canonical-metric-1-detail">
            <a:extLst xmlns:a="http://schemas.openxmlformats.org/drawingml/2006/main">
              <a:ext uri="{FF2B5EF4-FFF2-40B4-BE49-F238E27FC236}">
                <a16:creationId xmlns:a16="http://schemas.microsoft.com/office/drawing/2014/main" id="{E49F0093-209C-4E70-9F66-0CB836797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772150"/>
            <a:ext cx="25527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chemeClr val="tx1"/>
                </a:solidFill>
              </a:defRPr>
            </a:pPr>
            <a:r>
              <a:t>Cover, evidence, and chart slides</a:t>
            </a:r>
          </a:p>
        </p:txBody>
      </p:sp>
      <p:sp>
        <p:nvSpPr>
          <p:cNvPr id="10" name="canonical-metric-2-surface">
            <a:extLst xmlns:a="http://schemas.openxmlformats.org/drawingml/2006/main">
              <a:ext uri="{FF2B5EF4-FFF2-40B4-BE49-F238E27FC236}">
                <a16:creationId xmlns:a16="http://schemas.microsoft.com/office/drawing/2014/main" id="{6D897D56-ADCB-42D9-BD42-04828D124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4629150"/>
            <a:ext cx="285750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chemeClr val="bg2"/>
          </a:solidFill>
          <a:ln xmlns:a="http://schemas.openxmlformats.org/drawingml/2006/main" w="9525">
            <a:solidFill>
              <a:schemeClr val="accent6"/>
            </a:solidFill>
            <a:prstDash val="solid"/>
          </a:ln>
        </p:spPr>
      </p:sp>
      <p:sp>
        <p:nvSpPr>
          <p:cNvPr id="11" name="canonical-metric-2-label">
            <a:extLst xmlns:a="http://schemas.openxmlformats.org/drawingml/2006/main">
              <a:ext uri="{FF2B5EF4-FFF2-40B4-BE49-F238E27FC236}">
                <a16:creationId xmlns:a16="http://schemas.microsoft.com/office/drawing/2014/main" id="{C1DB9C02-BFA9-4142-8B8A-386A5DD8C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4781550"/>
            <a:ext cx="25527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chemeClr val="tx2"/>
                </a:solidFill>
              </a:defRPr>
            </a:pPr>
            <a:r>
              <a:t>Theme slots</a:t>
            </a:r>
          </a:p>
        </p:txBody>
      </p:sp>
      <p:sp>
        <p:nvSpPr>
          <p:cNvPr id="12" name="canonical-metric-2-value">
            <a:extLst xmlns:a="http://schemas.openxmlformats.org/drawingml/2006/main">
              <a:ext uri="{FF2B5EF4-FFF2-40B4-BE49-F238E27FC236}">
                <a16:creationId xmlns:a16="http://schemas.microsoft.com/office/drawing/2014/main" id="{5D9C21A4-045E-4D36-BB7B-D7284D9D4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5105400"/>
            <a:ext cx="25527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chemeClr val="tx1"/>
                </a:solidFill>
              </a:defRPr>
            </a:pPr>
            <a:r>
              <a:t>16</a:t>
            </a:r>
          </a:p>
        </p:txBody>
      </p:sp>
      <p:sp>
        <p:nvSpPr>
          <p:cNvPr id="13" name="canonical-metric-2-detail">
            <a:extLst xmlns:a="http://schemas.openxmlformats.org/drawingml/2006/main">
              <a:ext uri="{FF2B5EF4-FFF2-40B4-BE49-F238E27FC236}">
                <a16:creationId xmlns:a16="http://schemas.microsoft.com/office/drawing/2014/main" id="{D7F1698A-0A35-4977-89C1-5A3BA7E1D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5772150"/>
            <a:ext cx="25527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chemeClr val="tx1"/>
                </a:solidFill>
              </a:defRPr>
            </a:pPr>
            <a:r>
              <a:t>PowerPoint color slots available</a:t>
            </a:r>
          </a:p>
        </p:txBody>
      </p:sp>
      <p:sp>
        <p:nvSpPr>
          <p:cNvPr id="14" name="canonical-metric-3-surface">
            <a:extLst xmlns:a="http://schemas.openxmlformats.org/drawingml/2006/main">
              <a:ext uri="{FF2B5EF4-FFF2-40B4-BE49-F238E27FC236}">
                <a16:creationId xmlns:a16="http://schemas.microsoft.com/office/drawing/2014/main" id="{A3B0543C-A34A-476C-9BAE-CDB74F09E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629150"/>
            <a:ext cx="285750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chemeClr val="bg2"/>
          </a:solidFill>
          <a:ln xmlns:a="http://schemas.openxmlformats.org/drawingml/2006/main" w="9525">
            <a:solidFill>
              <a:schemeClr val="accent6"/>
            </a:solidFill>
            <a:prstDash val="solid"/>
          </a:ln>
        </p:spPr>
      </p:sp>
      <p:sp>
        <p:nvSpPr>
          <p:cNvPr id="15" name="canonical-metric-3-label">
            <a:extLst xmlns:a="http://schemas.openxmlformats.org/drawingml/2006/main">
              <a:ext uri="{FF2B5EF4-FFF2-40B4-BE49-F238E27FC236}">
                <a16:creationId xmlns:a16="http://schemas.microsoft.com/office/drawing/2014/main" id="{FE7633D9-CF52-41DF-83CC-7D95FAADC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781550"/>
            <a:ext cx="25527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chemeClr val="tx2"/>
                </a:solidFill>
              </a:defRPr>
            </a:pPr>
            <a:r>
              <a:t>Styles</a:t>
            </a:r>
          </a:p>
        </p:txBody>
      </p:sp>
      <p:sp>
        <p:nvSpPr>
          <p:cNvPr id="16" name="canonical-metric-3-value">
            <a:extLst xmlns:a="http://schemas.openxmlformats.org/drawingml/2006/main">
              <a:ext uri="{FF2B5EF4-FFF2-40B4-BE49-F238E27FC236}">
                <a16:creationId xmlns:a16="http://schemas.microsoft.com/office/drawing/2014/main" id="{7B9D49B0-7F23-4A87-99D3-87F265CC5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5105400"/>
            <a:ext cx="25527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chemeClr val="tx1"/>
                </a:solidFill>
              </a:defRPr>
            </a:pPr>
            <a:r>
              <a:t>14</a:t>
            </a:r>
          </a:p>
        </p:txBody>
      </p:sp>
      <p:sp>
        <p:nvSpPr>
          <p:cNvPr id="17" name="canonical-metric-3-detail">
            <a:extLst xmlns:a="http://schemas.openxmlformats.org/drawingml/2006/main">
              <a:ext uri="{FF2B5EF4-FFF2-40B4-BE49-F238E27FC236}">
                <a16:creationId xmlns:a16="http://schemas.microsoft.com/office/drawing/2014/main" id="{0EB30359-1A68-4ECA-A8A3-1ADCD5116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5772150"/>
            <a:ext cx="25527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chemeClr val="tx1"/>
                </a:solidFill>
              </a:defRPr>
            </a:pPr>
            <a:r>
              <a:t>Named text styles registered</a:t>
            </a:r>
          </a:p>
        </p:txBody>
      </p:sp>
    </p:spTree>
    <p:extLst>
      <p:ext uri="{BB962C8B-B14F-4D97-AF65-F5344CB8AC3E}">
        <p14:creationId xmlns:p14="http://schemas.microsoft.com/office/powerpoint/2010/main" val="173524344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chemeClr val="bg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judgmentkit-section-header-label">
            <a:extLst xmlns:a="http://schemas.openxmlformats.org/drawingml/2006/main">
              <a:ext uri="{FF2B5EF4-FFF2-40B4-BE49-F238E27FC236}">
                <a16:creationId xmlns:a16="http://schemas.microsoft.com/office/drawing/2014/main" id="{8752F37D-DDBF-4622-9293-63BE1F29D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chemeClr val="tx2"/>
                </a:solidFill>
              </a:defRPr>
            </a:pPr>
            <a:r>
              <a:t>WHAT TO CHECK</a:t>
            </a:r>
          </a:p>
        </p:txBody>
      </p:sp>
      <p:sp>
        <p:nvSpPr>
          <p:cNvPr id="2" name="judgmentkit-section-header-title">
            <a:extLst xmlns:a="http://schemas.openxmlformats.org/drawingml/2006/main">
              <a:ext uri="{FF2B5EF4-FFF2-40B4-BE49-F238E27FC236}">
                <a16:creationId xmlns:a16="http://schemas.microsoft.com/office/drawing/2014/main" id="{FADB1B0D-DFE8-4C73-9D23-35E87854C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chemeClr val="tx1"/>
                </a:solidFill>
              </a:defRPr>
            </a:pPr>
            <a:r>
              <a:t>The review components should read as deck content, not UI chrome</a:t>
            </a:r>
          </a:p>
        </p:txBody>
      </p:sp>
      <p:sp>
        <p:nvSpPr>
          <p:cNvPr id="3" name="judgmentkit-evidence-panel-surface">
            <a:extLst xmlns:a="http://schemas.openxmlformats.org/drawingml/2006/main">
              <a:ext uri="{FF2B5EF4-FFF2-40B4-BE49-F238E27FC236}">
                <a16:creationId xmlns:a16="http://schemas.microsoft.com/office/drawing/2014/main" id="{8ECAB8FA-84A3-4EE2-87CC-5E7A1F53F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66900"/>
            <a:ext cx="504825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chemeClr val="bg2"/>
          </a:solidFill>
          <a:ln xmlns:a="http://schemas.openxmlformats.org/drawingml/2006/main" w="9525">
            <a:solidFill>
              <a:schemeClr val="accent6"/>
            </a:solidFill>
            <a:prstDash val="solid"/>
          </a:ln>
        </p:spPr>
      </p:sp>
      <p:sp>
        <p:nvSpPr>
          <p:cNvPr id="4" name="judgmentkit-evidence-panel-title">
            <a:extLst xmlns:a="http://schemas.openxmlformats.org/drawingml/2006/main">
              <a:ext uri="{FF2B5EF4-FFF2-40B4-BE49-F238E27FC236}">
                <a16:creationId xmlns:a16="http://schemas.microsoft.com/office/drawing/2014/main" id="{AE8BE6FB-AB98-4198-930B-465DE8FB5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038350"/>
            <a:ext cx="47053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chemeClr val="tx1"/>
                </a:solidFill>
              </a:defRPr>
            </a:pPr>
            <a:r>
              <a:t>Evidence checked</a:t>
            </a:r>
          </a:p>
        </p:txBody>
      </p:sp>
      <p:sp>
        <p:nvSpPr>
          <p:cNvPr id="5" name="judgmentkit-evidence-panel-body">
            <a:extLst xmlns:a="http://schemas.openxmlformats.org/drawingml/2006/main">
              <a:ext uri="{FF2B5EF4-FFF2-40B4-BE49-F238E27FC236}">
                <a16:creationId xmlns:a16="http://schemas.microsoft.com/office/drawing/2014/main" id="{D59EA74C-6580-49E1-B826-20587CAEB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495550"/>
            <a:ext cx="4705350" cy="1295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chemeClr val="tx1"/>
                </a:solidFill>
              </a:defRPr>
            </a:pPr>
            <a:r>
              <a:t>Theme colors render without raw color literals.</a:t>
            </a:r>
          </a:p>
          <a:p xmlns:a="http://schemas.openxmlformats.org/drawingml/2006/main">
            <a:pPr algn="l">
              <a:defRPr sz="1350" b="0">
                <a:solidFill>
                  <a:schemeClr val="tx1"/>
                </a:solidFill>
              </a:defRPr>
            </a:pPr>
            <a:r>
              <a:t>Named text styles stay readable after export.</a:t>
            </a:r>
          </a:p>
          <a:p xmlns:a="http://schemas.openxmlformats.org/drawingml/2006/main">
            <a:pPr algn="l">
              <a:defRPr sz="1350" b="0">
                <a:solidFill>
                  <a:schemeClr val="tx1"/>
                </a:solidFill>
              </a:defRPr>
            </a:pPr>
            <a:r>
              <a:t>Frames stay inside the slide after PowerPoint export.</a:t>
            </a:r>
          </a:p>
        </p:txBody>
      </p:sp>
      <p:sp>
        <p:nvSpPr>
          <p:cNvPr id="6" name="judgmentkit-risk-callout-surface">
            <a:extLst xmlns:a="http://schemas.openxmlformats.org/drawingml/2006/main">
              <a:ext uri="{FF2B5EF4-FFF2-40B4-BE49-F238E27FC236}">
                <a16:creationId xmlns:a16="http://schemas.microsoft.com/office/drawing/2014/main" id="{864B2195-08B5-4F34-8FB0-8EB310521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1866900"/>
            <a:ext cx="548640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chemeClr val="bg2"/>
          </a:solidFill>
          <a:ln xmlns:a="http://schemas.openxmlformats.org/drawingml/2006/main" w="9525">
            <a:solidFill>
              <a:schemeClr val="accent6"/>
            </a:solidFill>
            <a:prstDash val="solid"/>
          </a:ln>
        </p:spPr>
      </p:sp>
      <p:sp>
        <p:nvSpPr>
          <p:cNvPr id="7" name="judgmentkit-risk-callout-title">
            <a:extLst xmlns:a="http://schemas.openxmlformats.org/drawingml/2006/main">
              <a:ext uri="{FF2B5EF4-FFF2-40B4-BE49-F238E27FC236}">
                <a16:creationId xmlns:a16="http://schemas.microsoft.com/office/drawing/2014/main" id="{5D7ED5C8-6A13-437D-B57A-83CE24AE5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38350"/>
            <a:ext cx="5143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chemeClr val="tx1"/>
                </a:solidFill>
              </a:defRPr>
            </a:pPr>
            <a:r>
              <a:t>Risk</a:t>
            </a:r>
          </a:p>
        </p:txBody>
      </p:sp>
      <p:sp>
        <p:nvSpPr>
          <p:cNvPr id="8" name="judgmentkit-risk-callout-body">
            <a:extLst xmlns:a="http://schemas.openxmlformats.org/drawingml/2006/main">
              <a:ext uri="{FF2B5EF4-FFF2-40B4-BE49-F238E27FC236}">
                <a16:creationId xmlns:a16="http://schemas.microsoft.com/office/drawing/2014/main" id="{52D7B771-84CA-441C-887A-27DBADA63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495550"/>
            <a:ext cx="5143500" cy="1295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chemeClr val="tx1"/>
                </a:solidFill>
              </a:defRPr>
            </a:pPr>
            <a:r>
              <a:t>Dense layouts can make status and small body text harder to scan.</a:t>
            </a:r>
          </a:p>
          <a:p xmlns:a="http://schemas.openxmlformats.org/drawingml/2006/main">
            <a:pPr algn="l">
              <a:defRPr sz="1350" b="0">
                <a:solidFill>
                  <a:schemeClr val="tx1"/>
                </a:solidFill>
              </a:defRPr>
            </a:pPr>
            <a:r>
              <a:t>Long labels should be tested against exported previews.</a:t>
            </a:r>
          </a:p>
        </p:txBody>
      </p:sp>
      <p:sp>
        <p:nvSpPr>
          <p:cNvPr id="9" name="judgmentkit-handoff-receipt-surface">
            <a:extLst xmlns:a="http://schemas.openxmlformats.org/drawingml/2006/main">
              <a:ext uri="{FF2B5EF4-FFF2-40B4-BE49-F238E27FC236}">
                <a16:creationId xmlns:a16="http://schemas.microsoft.com/office/drawing/2014/main" id="{E07B4D80-98E1-4376-8ED5-205FC5114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10050"/>
            <a:ext cx="10820400" cy="1276350"/>
          </a:xfrm>
          <a:prstGeom xmlns:a="http://schemas.openxmlformats.org/drawingml/2006/main" prst="roundRect">
            <a:avLst>
              <a:gd name="adj" fmla="val 5970"/>
            </a:avLst>
          </a:prstGeom>
          <a:solidFill xmlns:a="http://schemas.openxmlformats.org/drawingml/2006/main">
            <a:schemeClr val="bg2"/>
          </a:solidFill>
          <a:ln xmlns:a="http://schemas.openxmlformats.org/drawingml/2006/main" w="9525">
            <a:solidFill>
              <a:schemeClr val="accent6"/>
            </a:solidFill>
            <a:prstDash val="solid"/>
          </a:ln>
        </p:spPr>
      </p:sp>
      <p:sp>
        <p:nvSpPr>
          <p:cNvPr id="10" name="judgmentkit-handoff-receipt-title">
            <a:extLst xmlns:a="http://schemas.openxmlformats.org/drawingml/2006/main">
              <a:ext uri="{FF2B5EF4-FFF2-40B4-BE49-F238E27FC236}">
                <a16:creationId xmlns:a16="http://schemas.microsoft.com/office/drawing/2014/main" id="{2ADB3DD7-BFE7-47AA-ACDE-63D064D91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381500"/>
            <a:ext cx="10477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chemeClr val="tx1"/>
                </a:solidFill>
              </a:defRPr>
            </a:pPr>
            <a:r>
              <a:t>Handoff receipt</a:t>
            </a:r>
          </a:p>
        </p:txBody>
      </p:sp>
      <p:sp>
        <p:nvSpPr>
          <p:cNvPr id="11" name="judgmentkit-handoff-receipt-body">
            <a:extLst xmlns:a="http://schemas.openxmlformats.org/drawingml/2006/main">
              <a:ext uri="{FF2B5EF4-FFF2-40B4-BE49-F238E27FC236}">
                <a16:creationId xmlns:a16="http://schemas.microsoft.com/office/drawing/2014/main" id="{2D3C6780-553E-4029-8017-AF7FDFBF7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838700"/>
            <a:ext cx="10477500" cy="476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chemeClr val="tx1"/>
                </a:solidFill>
              </a:defRPr>
            </a:pPr>
            <a:r>
              <a:t>Accept this deck only if rendered previews preserve margins, hierarchy, and readable evidence copy.</a:t>
            </a:r>
          </a:p>
        </p:txBody>
      </p:sp>
    </p:spTree>
    <p:extLst>
      <p:ext uri="{BB962C8B-B14F-4D97-AF65-F5344CB8AC3E}">
        <p14:creationId xmlns:p14="http://schemas.microsoft.com/office/powerpoint/2010/main" val="13360800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chemeClr val="bg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judgmentkit-section-header-label">
            <a:extLst xmlns:a="http://schemas.openxmlformats.org/drawingml/2006/main">
              <a:ext uri="{FF2B5EF4-FFF2-40B4-BE49-F238E27FC236}">
                <a16:creationId xmlns:a16="http://schemas.microsoft.com/office/drawing/2014/main" id="{06CEADA5-0436-4727-8C4F-E386C52AD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chemeClr val="tx2"/>
                </a:solidFill>
              </a:defRPr>
            </a:pPr>
            <a:r>
              <a:t>CHART FRAME</a:t>
            </a:r>
          </a:p>
        </p:txBody>
      </p:sp>
      <p:sp>
        <p:nvSpPr>
          <p:cNvPr id="2" name="judgmentkit-section-header-title">
            <a:extLst xmlns:a="http://schemas.openxmlformats.org/drawingml/2006/main">
              <a:ext uri="{FF2B5EF4-FFF2-40B4-BE49-F238E27FC236}">
                <a16:creationId xmlns:a16="http://schemas.microsoft.com/office/drawing/2014/main" id="{18DB032A-F103-481C-9F8C-0C078C059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chemeClr val="tx1"/>
                </a:solidFill>
              </a:defRPr>
            </a:pPr>
            <a:r>
              <a:t>A native chart should sit cleanly inside an adapter media frame</a:t>
            </a:r>
          </a:p>
        </p:txBody>
      </p:sp>
      <p:sp>
        <p:nvSpPr>
          <p:cNvPr id="3" name="judgmentkit-media-frame">
            <a:extLst xmlns:a="http://schemas.openxmlformats.org/drawingml/2006/main">
              <a:ext uri="{FF2B5EF4-FFF2-40B4-BE49-F238E27FC236}">
                <a16:creationId xmlns:a16="http://schemas.microsoft.com/office/drawing/2014/main" id="{D07452E2-CA45-4DFF-AFFE-4F53F6351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33550"/>
            <a:ext cx="10820400" cy="3638550"/>
          </a:xfrm>
          <a:prstGeom xmlns:a="http://schemas.openxmlformats.org/drawingml/2006/main" prst="roundRect">
            <a:avLst>
              <a:gd name="adj" fmla="val 2094"/>
            </a:avLst>
          </a:prstGeom>
          <a:solidFill xmlns:a="http://schemas.openxmlformats.org/drawingml/2006/main">
            <a:schemeClr val="bg2"/>
          </a:solidFill>
          <a:ln xmlns:a="http://schemas.openxmlformats.org/drawingml/2006/main" w="9525">
            <a:solidFill>
              <a:schemeClr val="accent6"/>
            </a:solidFill>
            <a:prstDash val="solid"/>
          </a:ln>
        </p:spPr>
      </p:sp>
      <p:graphicFrame>
        <p:nvGraphicFramePr>
          <p:cNvPr id="8" name="Chart"/>
          <p:cNvGraphicFramePr/>
          <p:nvPr/>
        </p:nvGraphicFramePr>
        <p:xfrm>
          <a:off xmlns:a="http://schemas.openxmlformats.org/drawingml/2006/main" x="1219200" y="2286000"/>
          <a:ext xmlns:a="http://schemas.openxmlformats.org/drawingml/2006/main" cx="9753600" cy="2571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dcde1ec9f5b4bb9"/>
          </a:graphicData>
        </a:graphic>
      </p:graphicFrame>
    </p:spTree>
    <p:extLst>
      <p:ext uri="{BB962C8B-B14F-4D97-AF65-F5344CB8AC3E}">
        <p14:creationId xmlns:p14="http://schemas.microsoft.com/office/powerpoint/2010/main" val="181740162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chemeClr val="bg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judgmentkit-section-header-label">
            <a:extLst xmlns:a="http://schemas.openxmlformats.org/drawingml/2006/main">
              <a:ext uri="{FF2B5EF4-FFF2-40B4-BE49-F238E27FC236}">
                <a16:creationId xmlns:a16="http://schemas.microsoft.com/office/drawing/2014/main" id="{0DEE0C0F-B156-4328-9DF0-A1AA1AA54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chemeClr val="tx2"/>
                </a:solidFill>
              </a:defRPr>
            </a:pPr>
            <a:r>
              <a:t>EVIDENCE TABLE</a:t>
            </a:r>
          </a:p>
        </p:txBody>
      </p:sp>
      <p:sp>
        <p:nvSpPr>
          <p:cNvPr id="2" name="judgmentkit-section-header-title">
            <a:extLst xmlns:a="http://schemas.openxmlformats.org/drawingml/2006/main">
              <a:ext uri="{FF2B5EF4-FFF2-40B4-BE49-F238E27FC236}">
                <a16:creationId xmlns:a16="http://schemas.microsoft.com/office/drawing/2014/main" id="{E36B58CE-4111-48CE-A24D-7CEA4AE5F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chemeClr val="tx1"/>
                </a:solidFill>
              </a:defRPr>
            </a:pPr>
            <a:r>
              <a:t>Native tables should export through the adapter without helper errors</a:t>
            </a:r>
          </a:p>
        </p:txBody>
      </p:sp>
      <p:graphicFrame>
        <p:nvGraphicFramePr>
          <p:cNvPr id="9" name="judgmentkit-evidence-table"/>
          <p:cNvGraphicFramePr/>
          <p:nvPr/>
        </p:nvGraphicFramePr>
        <p:xfrm>
          <a:off xmlns:a="http://schemas.openxmlformats.org/drawingml/2006/main" x="685800" y="1733550"/>
          <a:ext xmlns:a="http://schemas.openxmlformats.org/drawingml/2006/main" cx="10820400" cy="2952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606800"/>
                <a:gridCol w="3606800"/>
                <a:gridCol w="3606800"/>
              </a:tblGrid>
              <a:tr h="738188">
                <a:tc>
                  <a:txBody>
                    <a:bodyPr/>
                    <a:lstStyle/>
                    <a:p>
                      <a:r>
                        <a:t>Check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Expected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Observed</a:t>
                      </a:r>
                    </a:p>
                  </a:txBody>
                  <a:tcPr marL="91440" marR="91440" marT="45720" marB="45720"/>
                </a:tc>
              </a:tr>
              <a:tr h="738188">
                <a:tc>
                  <a:txBody>
                    <a:bodyPr/>
                    <a:lstStyle/>
                    <a:p>
                      <a:r>
                        <a:t>Theme aliases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bg1/lt1 and bg2/lt2 match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Matched</a:t>
                      </a:r>
                    </a:p>
                  </a:txBody>
                  <a:tcPr marL="91440" marR="91440" marT="45720" marB="45720"/>
                </a:tc>
              </a:tr>
              <a:tr h="738188">
                <a:tc>
                  <a:txBody>
                    <a:bodyPr/>
                    <a:lstStyle/>
                    <a:p>
                      <a:r>
                        <a:t>Frame export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Elements keep absolute positions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Matched</a:t>
                      </a:r>
                    </a:p>
                  </a:txBody>
                  <a:tcPr marL="91440" marR="91440" marT="45720" marB="45720"/>
                </a:tc>
              </a:tr>
              <a:tr h="738188">
                <a:tc>
                  <a:txBody>
                    <a:bodyPr/>
                    <a:lstStyle/>
                    <a:p>
                      <a:r>
                        <a:t>Readability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Dense copy stays inside panels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Matched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4" name="judgmentkit-handoff-receipt-surface">
            <a:extLst xmlns:a="http://schemas.openxmlformats.org/drawingml/2006/main">
              <a:ext uri="{FF2B5EF4-FFF2-40B4-BE49-F238E27FC236}">
                <a16:creationId xmlns:a16="http://schemas.microsoft.com/office/drawing/2014/main" id="{257DB331-AE4B-4934-B96D-805D61637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38700"/>
            <a:ext cx="10820400" cy="118110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chemeClr val="bg2"/>
          </a:solidFill>
          <a:ln xmlns:a="http://schemas.openxmlformats.org/drawingml/2006/main" w="9525">
            <a:solidFill>
              <a:schemeClr val="accent6"/>
            </a:solidFill>
            <a:prstDash val="solid"/>
          </a:ln>
        </p:spPr>
      </p:sp>
      <p:sp>
        <p:nvSpPr>
          <p:cNvPr id="5" name="judgmentkit-handoff-receipt-title">
            <a:extLst xmlns:a="http://schemas.openxmlformats.org/drawingml/2006/main">
              <a:ext uri="{FF2B5EF4-FFF2-40B4-BE49-F238E27FC236}">
                <a16:creationId xmlns:a16="http://schemas.microsoft.com/office/drawing/2014/main" id="{8BBC685C-DCBA-4556-8773-B24166F77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010150"/>
            <a:ext cx="10477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chemeClr val="tx1"/>
                </a:solidFill>
              </a:defRPr>
            </a:pPr>
            <a:r>
              <a:t>Table outcome</a:t>
            </a:r>
          </a:p>
        </p:txBody>
      </p:sp>
      <p:sp>
        <p:nvSpPr>
          <p:cNvPr id="6" name="judgmentkit-handoff-receipt-body">
            <a:extLst xmlns:a="http://schemas.openxmlformats.org/drawingml/2006/main">
              <a:ext uri="{FF2B5EF4-FFF2-40B4-BE49-F238E27FC236}">
                <a16:creationId xmlns:a16="http://schemas.microsoft.com/office/drawing/2014/main" id="{7E07C917-D0F3-44D5-8200-832C4495F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467350"/>
            <a:ext cx="104775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chemeClr val="tx1"/>
                </a:solidFill>
              </a:defRPr>
            </a:pPr>
            <a:r>
              <a:t>This slide exercises the real artifact-tool table helper and exported PPTX import path.</a:t>
            </a:r>
          </a:p>
        </p:txBody>
      </p:sp>
    </p:spTree>
    <p:extLst>
      <p:ext uri="{BB962C8B-B14F-4D97-AF65-F5344CB8AC3E}">
        <p14:creationId xmlns:p14="http://schemas.microsoft.com/office/powerpoint/2010/main" val="1734766872"/>
      </p:ext>
    </p:extLst>
  </p:cSld>
</p:sld>
</file>

<file path=ppt/theme/theme1.xml><?xml version="1.0" encoding="utf-8"?>
<a:theme xmlns:a="http://schemas.openxmlformats.org/drawingml/2006/main" name="ChatGPT">
  <a:themeElements>
    <a:clrScheme name="JudgmentKit Light">
      <a:dk1>
        <a:srgbClr val="171717"/>
      </a:dk1>
      <a:lt1>
        <a:srgbClr val="FFFFFF"/>
      </a:lt1>
      <a:dk2>
        <a:srgbClr val="666666"/>
      </a:dk2>
      <a:lt2>
        <a:srgbClr val="F4F4F4"/>
      </a:lt2>
      <a:accent1>
        <a:srgbClr val="156082"/>
      </a:accent1>
      <a:accent2>
        <a:srgbClr val="467886"/>
      </a:accent2>
      <a:accent3>
        <a:srgbClr val="2E6B48"/>
      </a:accent3>
      <a:accent4>
        <a:srgbClr val="8A5A16"/>
      </a:accent4>
      <a:accent5>
        <a:srgbClr val="8F342F"/>
      </a:accent5>
      <a:accent6>
        <a:srgbClr val="D9D9D9"/>
      </a:accent6>
      <a:hlink>
        <a:srgbClr val="156082"/>
      </a:hlink>
      <a:folHlink>
        <a:srgbClr val="467886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JudgmentKit Ligh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2026-07-05T21:22:00.4660000Z</dcterms:created>
  <dcterms:modified xsi:type="dcterms:W3CDTF">2026-07-05T21:22:00.4660000Z</dcterms:modified>
</coreProperties>
</file>