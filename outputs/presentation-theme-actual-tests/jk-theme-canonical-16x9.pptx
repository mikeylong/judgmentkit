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e29c2de063e4abf" /><Relationship Type="http://schemas.openxmlformats.org/officeDocument/2006/relationships/extended-properties" Target="/docProps/app.xml" Id="R4eb68a612af44247" /><Relationship Type="http://schemas.openxmlformats.org/officeDocument/2006/relationships/officeDocument" Target="/ppt/presentation.xml" Id="Rbceba584eba44d1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84908843b15437d"/>
  </p:sldMasterIdLst>
  <p:notesMasterIdLst>
    <p:notesMasterId xmlns:r="http://schemas.openxmlformats.org/officeDocument/2006/relationships" r:id="R5c5ea7bdf7ac4e97"/>
  </p:notesMasterIdLst>
  <p:sldIdLst>
    <p:sldId xmlns:r="http://schemas.openxmlformats.org/officeDocument/2006/relationships" id="256" r:id="Re71e9d1851614432"/>
    <p:sldId xmlns:r="http://schemas.openxmlformats.org/officeDocument/2006/relationships" id="257" r:id="Rd31b35b6e3624110"/>
    <p:sldId xmlns:r="http://schemas.openxmlformats.org/officeDocument/2006/relationships" id="258" r:id="R5a3ad3ddd56a46e5"/>
    <p:sldId xmlns:r="http://schemas.openxmlformats.org/officeDocument/2006/relationships" id="259" r:id="R00de5ac7bf6e437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2f902a042d54063" /><Relationship Type="http://schemas.openxmlformats.org/officeDocument/2006/relationships/slideMaster" Target="/ppt/slideMasters/slideMaster1.xml" Id="R684908843b15437d" /><Relationship Type="http://schemas.openxmlformats.org/officeDocument/2006/relationships/notesMaster" Target="/ppt/notesMasters/notesMaster1.xml" Id="R5c5ea7bdf7ac4e97" /><Relationship Type="http://schemas.openxmlformats.org/officeDocument/2006/relationships/presProps" Target="/ppt/presProps.xml" Id="Reaaeb2936e1f4c78" /><Relationship Type="http://schemas.openxmlformats.org/officeDocument/2006/relationships/tableStyles" Target="/ppt/tableStyles.xml" Id="R18b8ed9836394218" /><Relationship Type="http://schemas.openxmlformats.org/officeDocument/2006/relationships/slide" Target="/ppt/slides/slide1.xml" Id="Re71e9d1851614432" /><Relationship Type="http://schemas.openxmlformats.org/officeDocument/2006/relationships/slide" Target="/ppt/slides/slide2.xml" Id="Rd31b35b6e3624110" /><Relationship Type="http://schemas.openxmlformats.org/officeDocument/2006/relationships/slide" Target="/ppt/slides/slide3.xml" Id="R5a3ad3ddd56a46e5" /><Relationship Type="http://schemas.openxmlformats.org/officeDocument/2006/relationships/slide" Target="/ppt/slides/slide4.xml" Id="R00de5ac7bf6e437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a5cd93ff484c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f61fce55a3e4bd2" /><Relationship Type="http://schemas.openxmlformats.org/officeDocument/2006/relationships/notesMaster" Target="/ppt/notesMasters/notesMaster1.xml" Id="Rb6a2b2e3f36c4a5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859ed1510740f4" /><Relationship Type="http://schemas.openxmlformats.org/officeDocument/2006/relationships/notesMaster" Target="/ppt/notesMasters/notesMaster1.xml" Id="Rc26bf50dc0364d1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e91fdf925034de1" /><Relationship Type="http://schemas.openxmlformats.org/officeDocument/2006/relationships/notesMaster" Target="/ppt/notesMasters/notesMaster1.xml" Id="Red3961e8b56045c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00835d757b54f27" /><Relationship Type="http://schemas.openxmlformats.org/officeDocument/2006/relationships/notesMaster" Target="/ppt/notesMasters/notesMaster1.xml" Id="Re2af0c92deca4e2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adefeb851f4ec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6ce3923a5a04537" /><Relationship Type="http://schemas.openxmlformats.org/officeDocument/2006/relationships/slideLayout" Target="/ppt/slideLayouts/slideLayout1.xml" Id="Re51db86ea0fd45d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1db86ea0fd45d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95510f3ee42bb" /><Relationship Type="http://schemas.openxmlformats.org/officeDocument/2006/relationships/notesSlide" Target="/ppt/notesSlides/notesSlide1.xml" Id="R889bc94ff60b41c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8f1ed802064c11" /><Relationship Type="http://schemas.openxmlformats.org/officeDocument/2006/relationships/notesSlide" Target="/ppt/notesSlides/notesSlide2.xml" Id="R8241c38968304e1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539b3bb41141d2" /><Relationship Type="http://schemas.openxmlformats.org/officeDocument/2006/relationships/chart" Target="/ppt/slides/charts/chart1.xml" Id="Rabfed9e51d0841d2" /><Relationship Type="http://schemas.openxmlformats.org/officeDocument/2006/relationships/notesSlide" Target="/ppt/notesSlides/notesSlide3.xml" Id="R0a796fd9e05041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7a4187b6b6438d" /><Relationship Type="http://schemas.openxmlformats.org/officeDocument/2006/relationships/notesSlide" Target="/ppt/notesSlides/notesSlide4.xml" Id="Rd970349053f146b3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varyColors val="0"/>
        <c:ser>
          <c:idx val="0"/>
          <c:order val="0"/>
          <c:tx>
            <c:v>Coverage</c:v>
          </c:tx>
          <c:spPr>
            <a:solidFill xmlns:a="http://schemas.openxmlformats.org/drawingml/2006/main">
              <a:schemeClr val="accent1"/>
            </a:solidFill>
          </c:spPr>
          <c:dLbls/>
          <c:cat>
            <c:strLit>
              <c:ptCount val="3"/>
              <c:pt idx="0">
                <c:v>Theme</c:v>
              </c:pt>
              <c:pt idx="1">
                <c:v>Layout</c:v>
              </c:pt>
              <c:pt idx="2">
                <c:v>QA</c:v>
              </c:pt>
            </c:strLit>
          </c:cat>
          <c:val>
            <c:numLit>
              <c:formatCode>General</c:formatCode>
              <c:ptCount val="3"/>
              <c:pt idx="0">
                <c:v>16</c:v>
              </c:pt>
              <c:pt idx="1">
                <c:v>9</c:v>
              </c:pt>
              <c:pt idx="2">
                <c:v>7</c:v>
              </c:pt>
            </c:numLit>
          </c:val>
        </c:ser>
        <c:dLbls>
          <c:dLblPos val="outEnd"/>
          <c:showVal val="1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chemeClr val="accent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title-block-eyebrow">
            <a:extLst xmlns:a="http://schemas.openxmlformats.org/drawingml/2006/main">
              <a:ext uri="{FF2B5EF4-FFF2-40B4-BE49-F238E27FC236}">
                <a16:creationId xmlns:a16="http://schemas.microsoft.com/office/drawing/2014/main" id="{E97B1DF0-626F-4920-A27A-7626DDA50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108204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PRESENTATION THEME ACTUAL TEST</a:t>
            </a:r>
          </a:p>
        </p:txBody>
      </p:sp>
      <p:sp>
        <p:nvSpPr>
          <p:cNvPr id="2" name="judgmentkit-title-block-title">
            <a:extLst xmlns:a="http://schemas.openxmlformats.org/drawingml/2006/main">
              <a:ext uri="{FF2B5EF4-FFF2-40B4-BE49-F238E27FC236}">
                <a16:creationId xmlns:a16="http://schemas.microsoft.com/office/drawing/2014/main" id="{F651E82A-9461-4185-B2EE-54EB86C0E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1428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900" b="1">
                <a:solidFill>
                  <a:schemeClr val="tx1"/>
                </a:solidFill>
              </a:defRPr>
            </a:pPr>
            <a:r>
              <a:t>The theme adapter gives decks a usable review structure</a:t>
            </a:r>
          </a:p>
        </p:txBody>
      </p:sp>
      <p:sp>
        <p:nvSpPr>
          <p:cNvPr id="3" name="judgmentkit-title-block-subtitle">
            <a:extLst xmlns:a="http://schemas.openxmlformats.org/drawingml/2006/main">
              <a:ext uri="{FF2B5EF4-FFF2-40B4-BE49-F238E27FC236}">
                <a16:creationId xmlns:a16="http://schemas.microsoft.com/office/drawing/2014/main" id="{E7A68A76-6C53-44B1-BBB6-646DD3505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6477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chemeClr val="tx2"/>
                </a:solidFill>
              </a:defRPr>
            </a:pPr>
            <a:r>
              <a:t>Fixture deck for checking rendered size, component spacing, theme slots, and named text styles.</a:t>
            </a:r>
          </a:p>
        </p:txBody>
      </p:sp>
      <p:sp>
        <p:nvSpPr>
          <p:cNvPr id="4" name="judgmentkit-status-pill-surface">
            <a:extLst xmlns:a="http://schemas.openxmlformats.org/drawingml/2006/main">
              <a:ext uri="{FF2B5EF4-FFF2-40B4-BE49-F238E27FC236}">
                <a16:creationId xmlns:a16="http://schemas.microsoft.com/office/drawing/2014/main" id="{E8D4866F-DBC6-4F90-8AF3-AD7AD74F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533400"/>
            <a:ext cx="12573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3"/>
            </a:solidFill>
            <a:prstDash val="solid"/>
          </a:ln>
        </p:spPr>
      </p:sp>
      <p:sp>
        <p:nvSpPr>
          <p:cNvPr id="5" name="judgmentkit-status-pill-label">
            <a:extLst xmlns:a="http://schemas.openxmlformats.org/drawingml/2006/main">
              <a:ext uri="{FF2B5EF4-FFF2-40B4-BE49-F238E27FC236}">
                <a16:creationId xmlns:a16="http://schemas.microsoft.com/office/drawing/2014/main" id="{3D3DBED3-8B40-4F45-8DE3-21173AC5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600075"/>
            <a:ext cx="1028700" cy="200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chemeClr val="accent3"/>
                </a:solidFill>
              </a:defRPr>
            </a:pPr>
            <a:r>
              <a:t>Ready</a:t>
            </a:r>
          </a:p>
        </p:txBody>
      </p:sp>
      <p:sp>
        <p:nvSpPr>
          <p:cNvPr id="6" name="canonical-metric-1-surface">
            <a:extLst xmlns:a="http://schemas.openxmlformats.org/drawingml/2006/main">
              <a:ext uri="{FF2B5EF4-FFF2-40B4-BE49-F238E27FC236}">
                <a16:creationId xmlns:a16="http://schemas.microsoft.com/office/drawing/2014/main" id="{4F43F25C-DD73-49C9-B140-1B230C414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7" name="canonical-metric-1-label">
            <a:extLst xmlns:a="http://schemas.openxmlformats.org/drawingml/2006/main">
              <a:ext uri="{FF2B5EF4-FFF2-40B4-BE49-F238E27FC236}">
                <a16:creationId xmlns:a16="http://schemas.microsoft.com/office/drawing/2014/main" id="{E66F7FB6-E012-4685-9286-8AD0597B3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781550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Layouts</a:t>
            </a:r>
          </a:p>
        </p:txBody>
      </p:sp>
      <p:sp>
        <p:nvSpPr>
          <p:cNvPr id="8" name="canonical-metric-1-value">
            <a:extLst xmlns:a="http://schemas.openxmlformats.org/drawingml/2006/main">
              <a:ext uri="{FF2B5EF4-FFF2-40B4-BE49-F238E27FC236}">
                <a16:creationId xmlns:a16="http://schemas.microsoft.com/office/drawing/2014/main" id="{395B084E-BB82-4839-A454-76608782B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105400"/>
            <a:ext cx="2552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3</a:t>
            </a:r>
          </a:p>
        </p:txBody>
      </p:sp>
      <p:sp>
        <p:nvSpPr>
          <p:cNvPr id="9" name="canonical-metric-1-detail">
            <a:extLst xmlns:a="http://schemas.openxmlformats.org/drawingml/2006/main">
              <a:ext uri="{FF2B5EF4-FFF2-40B4-BE49-F238E27FC236}">
                <a16:creationId xmlns:a16="http://schemas.microsoft.com/office/drawing/2014/main" id="{31AF4F6A-213D-4BD7-A821-A87CD3003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2552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Cover, evidence, and chart slides</a:t>
            </a:r>
          </a:p>
        </p:txBody>
      </p:sp>
      <p:sp>
        <p:nvSpPr>
          <p:cNvPr id="10" name="canonical-metric-2-surface">
            <a:extLst xmlns:a="http://schemas.openxmlformats.org/drawingml/2006/main">
              <a:ext uri="{FF2B5EF4-FFF2-40B4-BE49-F238E27FC236}">
                <a16:creationId xmlns:a16="http://schemas.microsoft.com/office/drawing/2014/main" id="{D8CE6BF9-7C88-4347-9E6C-A3E4C496A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6291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1" name="canonical-metric-2-label">
            <a:extLst xmlns:a="http://schemas.openxmlformats.org/drawingml/2006/main">
              <a:ext uri="{FF2B5EF4-FFF2-40B4-BE49-F238E27FC236}">
                <a16:creationId xmlns:a16="http://schemas.microsoft.com/office/drawing/2014/main" id="{4AD6CBB9-F4CE-4C84-8783-A6567495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781550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Theme slots</a:t>
            </a:r>
          </a:p>
        </p:txBody>
      </p:sp>
      <p:sp>
        <p:nvSpPr>
          <p:cNvPr id="12" name="canonical-metric-2-value">
            <a:extLst xmlns:a="http://schemas.openxmlformats.org/drawingml/2006/main">
              <a:ext uri="{FF2B5EF4-FFF2-40B4-BE49-F238E27FC236}">
                <a16:creationId xmlns:a16="http://schemas.microsoft.com/office/drawing/2014/main" id="{478E6CA7-6CE3-4936-A03D-6DE071C5D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105400"/>
            <a:ext cx="2552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16</a:t>
            </a:r>
          </a:p>
        </p:txBody>
      </p:sp>
      <p:sp>
        <p:nvSpPr>
          <p:cNvPr id="13" name="canonical-metric-2-detail">
            <a:extLst xmlns:a="http://schemas.openxmlformats.org/drawingml/2006/main">
              <a:ext uri="{FF2B5EF4-FFF2-40B4-BE49-F238E27FC236}">
                <a16:creationId xmlns:a16="http://schemas.microsoft.com/office/drawing/2014/main" id="{DD3C98C4-D3EA-4F1F-88D4-F54A2328A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5772150"/>
            <a:ext cx="2552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PowerPoint color slots available</a:t>
            </a:r>
          </a:p>
        </p:txBody>
      </p:sp>
      <p:sp>
        <p:nvSpPr>
          <p:cNvPr id="14" name="canonical-metric-3-surface">
            <a:extLst xmlns:a="http://schemas.openxmlformats.org/drawingml/2006/main">
              <a:ext uri="{FF2B5EF4-FFF2-40B4-BE49-F238E27FC236}">
                <a16:creationId xmlns:a16="http://schemas.microsoft.com/office/drawing/2014/main" id="{49268A70-097C-42B4-89CF-38F3A936A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46291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5" name="canonical-metric-3-label">
            <a:extLst xmlns:a="http://schemas.openxmlformats.org/drawingml/2006/main">
              <a:ext uri="{FF2B5EF4-FFF2-40B4-BE49-F238E27FC236}">
                <a16:creationId xmlns:a16="http://schemas.microsoft.com/office/drawing/2014/main" id="{52DCB95D-17D1-4F77-9CBE-81616A70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81550"/>
            <a:ext cx="25527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Styles</a:t>
            </a:r>
          </a:p>
        </p:txBody>
      </p:sp>
      <p:sp>
        <p:nvSpPr>
          <p:cNvPr id="16" name="canonical-metric-3-value">
            <a:extLst xmlns:a="http://schemas.openxmlformats.org/drawingml/2006/main">
              <a:ext uri="{FF2B5EF4-FFF2-40B4-BE49-F238E27FC236}">
                <a16:creationId xmlns:a16="http://schemas.microsoft.com/office/drawing/2014/main" id="{01AD811F-E156-4F8E-A000-9A8296E49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105400"/>
            <a:ext cx="2552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chemeClr val="tx1"/>
                </a:solidFill>
              </a:defRPr>
            </a:pPr>
            <a:r>
              <a:t>14</a:t>
            </a:r>
          </a:p>
        </p:txBody>
      </p:sp>
      <p:sp>
        <p:nvSpPr>
          <p:cNvPr id="17" name="canonical-metric-3-detail">
            <a:extLst xmlns:a="http://schemas.openxmlformats.org/drawingml/2006/main">
              <a:ext uri="{FF2B5EF4-FFF2-40B4-BE49-F238E27FC236}">
                <a16:creationId xmlns:a16="http://schemas.microsoft.com/office/drawing/2014/main" id="{6B7EAF22-D855-406B-A52B-AEC4213C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5772150"/>
            <a:ext cx="25527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chemeClr val="tx1"/>
                </a:solidFill>
              </a:defRPr>
            </a:pPr>
            <a:r>
              <a:t>Named text styles registered</a:t>
            </a:r>
          </a:p>
        </p:txBody>
      </p:sp>
    </p:spTree>
    <p:extLst>
      <p:ext uri="{BB962C8B-B14F-4D97-AF65-F5344CB8AC3E}">
        <p14:creationId xmlns:p14="http://schemas.microsoft.com/office/powerpoint/2010/main" val="41373936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DBADBFFC-E3C1-42A0-9B3F-5525AFFCD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WHAT TO CHECK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579ECA83-4A22-4B54-A815-D9AE808C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The review components should read as deck content, not UI chrome</a:t>
            </a:r>
          </a:p>
        </p:txBody>
      </p:sp>
      <p:sp>
        <p:nvSpPr>
          <p:cNvPr id="3" name="judgmentkit-evidence-panel-surface">
            <a:extLst xmlns:a="http://schemas.openxmlformats.org/drawingml/2006/main">
              <a:ext uri="{FF2B5EF4-FFF2-40B4-BE49-F238E27FC236}">
                <a16:creationId xmlns:a16="http://schemas.microsoft.com/office/drawing/2014/main" id="{324E8A49-158C-4B81-8D0E-20C68FC9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504825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4" name="judgmentkit-evidence-panel-title">
            <a:extLst xmlns:a="http://schemas.openxmlformats.org/drawingml/2006/main">
              <a:ext uri="{FF2B5EF4-FFF2-40B4-BE49-F238E27FC236}">
                <a16:creationId xmlns:a16="http://schemas.microsoft.com/office/drawing/2014/main" id="{B8FB7A17-2DF1-4BAA-B712-83891FA03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47053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Evidence checked</a:t>
            </a:r>
          </a:p>
        </p:txBody>
      </p:sp>
      <p:sp>
        <p:nvSpPr>
          <p:cNvPr id="5" name="judgmentkit-evidence-panel-body">
            <a:extLst xmlns:a="http://schemas.openxmlformats.org/drawingml/2006/main">
              <a:ext uri="{FF2B5EF4-FFF2-40B4-BE49-F238E27FC236}">
                <a16:creationId xmlns:a16="http://schemas.microsoft.com/office/drawing/2014/main" id="{E5BB95CA-2D8D-44EC-9345-EC5A01D8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495550"/>
            <a:ext cx="4705350" cy="129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Theme colors render without raw color literals.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Named text styles stay readable after export.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Frames stay inside the slide after PowerPoint export.</a:t>
            </a:r>
          </a:p>
        </p:txBody>
      </p:sp>
      <p:sp>
        <p:nvSpPr>
          <p:cNvPr id="6" name="judgmentkit-risk-callout-surface">
            <a:extLst xmlns:a="http://schemas.openxmlformats.org/drawingml/2006/main">
              <a:ext uri="{FF2B5EF4-FFF2-40B4-BE49-F238E27FC236}">
                <a16:creationId xmlns:a16="http://schemas.microsoft.com/office/drawing/2014/main" id="{FFB9294C-4A5A-4155-81C0-04A54D718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1866900"/>
            <a:ext cx="5486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7" name="judgmentkit-risk-callout-title">
            <a:extLst xmlns:a="http://schemas.openxmlformats.org/drawingml/2006/main">
              <a:ext uri="{FF2B5EF4-FFF2-40B4-BE49-F238E27FC236}">
                <a16:creationId xmlns:a16="http://schemas.microsoft.com/office/drawing/2014/main" id="{C5CCDE8A-3705-4A12-AAE1-C6221C63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38350"/>
            <a:ext cx="5143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Risk</a:t>
            </a:r>
          </a:p>
        </p:txBody>
      </p:sp>
      <p:sp>
        <p:nvSpPr>
          <p:cNvPr id="8" name="judgmentkit-risk-callout-body">
            <a:extLst xmlns:a="http://schemas.openxmlformats.org/drawingml/2006/main">
              <a:ext uri="{FF2B5EF4-FFF2-40B4-BE49-F238E27FC236}">
                <a16:creationId xmlns:a16="http://schemas.microsoft.com/office/drawing/2014/main" id="{D3988DFA-5309-410D-BFC9-B1B78F6F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95550"/>
            <a:ext cx="5143500" cy="1295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Dense layouts can make status and small body text harder to scan.</a:t>
            </a:r>
          </a:p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Long labels should be tested against exported previews.</a:t>
            </a:r>
          </a:p>
        </p:txBody>
      </p:sp>
      <p:sp>
        <p:nvSpPr>
          <p:cNvPr id="9" name="judgmentkit-handoff-receipt-surface">
            <a:extLst xmlns:a="http://schemas.openxmlformats.org/drawingml/2006/main">
              <a:ext uri="{FF2B5EF4-FFF2-40B4-BE49-F238E27FC236}">
                <a16:creationId xmlns:a16="http://schemas.microsoft.com/office/drawing/2014/main" id="{B434601D-4227-4CD4-815C-C5FF9D08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108204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10" name="judgmentkit-handoff-receipt-title">
            <a:extLst xmlns:a="http://schemas.openxmlformats.org/drawingml/2006/main">
              <a:ext uri="{FF2B5EF4-FFF2-40B4-BE49-F238E27FC236}">
                <a16:creationId xmlns:a16="http://schemas.microsoft.com/office/drawing/2014/main" id="{5C4B5225-3910-4A97-B30D-2880C4E3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381500"/>
            <a:ext cx="1047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Handoff receipt</a:t>
            </a:r>
          </a:p>
        </p:txBody>
      </p:sp>
      <p:sp>
        <p:nvSpPr>
          <p:cNvPr id="11" name="judgmentkit-handoff-receipt-body">
            <a:extLst xmlns:a="http://schemas.openxmlformats.org/drawingml/2006/main">
              <a:ext uri="{FF2B5EF4-FFF2-40B4-BE49-F238E27FC236}">
                <a16:creationId xmlns:a16="http://schemas.microsoft.com/office/drawing/2014/main" id="{C413FE42-FD7F-4971-82B4-29EF079A7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38700"/>
            <a:ext cx="10477500" cy="476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Accept this deck only if rendered previews preserve margins, hierarchy, and readable evidence copy.</a:t>
            </a:r>
          </a:p>
        </p:txBody>
      </p:sp>
    </p:spTree>
    <p:extLst>
      <p:ext uri="{BB962C8B-B14F-4D97-AF65-F5344CB8AC3E}">
        <p14:creationId xmlns:p14="http://schemas.microsoft.com/office/powerpoint/2010/main" val="135385294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93E84FE7-A258-4C87-BE7B-BD9423A5C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CHART FRAME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8B1C893B-3A54-4A60-8231-4D9B4395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A native chart should sit cleanly inside an adapter media frame</a:t>
            </a:r>
          </a:p>
        </p:txBody>
      </p:sp>
      <p:sp>
        <p:nvSpPr>
          <p:cNvPr id="3" name="judgmentkit-media-frame">
            <a:extLst xmlns:a="http://schemas.openxmlformats.org/drawingml/2006/main">
              <a:ext uri="{FF2B5EF4-FFF2-40B4-BE49-F238E27FC236}">
                <a16:creationId xmlns:a16="http://schemas.microsoft.com/office/drawing/2014/main" id="{E79A668E-2762-4557-AC9D-8EBB2084C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10820400" cy="3638550"/>
          </a:xfrm>
          <a:prstGeom xmlns:a="http://schemas.openxmlformats.org/drawingml/2006/main" prst="roundRect">
            <a:avLst>
              <a:gd name="adj" fmla="val 2094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graphicFrame>
        <p:nvGraphicFramePr>
          <p:cNvPr id="8" name="Chart"/>
          <p:cNvGraphicFramePr/>
          <p:nvPr/>
        </p:nvGraphicFramePr>
        <p:xfrm>
          <a:off xmlns:a="http://schemas.openxmlformats.org/drawingml/2006/main" x="1219200" y="2286000"/>
          <a:ext xmlns:a="http://schemas.openxmlformats.org/drawingml/2006/main" cx="9753600" cy="2571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bfed9e51d0841d2"/>
          </a:graphicData>
        </a:graphic>
      </p:graphicFrame>
    </p:spTree>
    <p:extLst>
      <p:ext uri="{BB962C8B-B14F-4D97-AF65-F5344CB8AC3E}">
        <p14:creationId xmlns:p14="http://schemas.microsoft.com/office/powerpoint/2010/main" val="133604046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judgmentkit-section-header-label">
            <a:extLst xmlns:a="http://schemas.openxmlformats.org/drawingml/2006/main">
              <a:ext uri="{FF2B5EF4-FFF2-40B4-BE49-F238E27FC236}">
                <a16:creationId xmlns:a16="http://schemas.microsoft.com/office/drawing/2014/main" id="{2A1E9F05-C512-4195-92EA-E5949283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"/>
            <a:ext cx="10820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chemeClr val="tx2"/>
                </a:solidFill>
              </a:defRPr>
            </a:pPr>
            <a:r>
              <a:t>EVIDENCE TABLE</a:t>
            </a:r>
          </a:p>
        </p:txBody>
      </p:sp>
      <p:sp>
        <p:nvSpPr>
          <p:cNvPr id="2" name="judgmentkit-section-header-title">
            <a:extLst xmlns:a="http://schemas.openxmlformats.org/drawingml/2006/main">
              <a:ext uri="{FF2B5EF4-FFF2-40B4-BE49-F238E27FC236}">
                <a16:creationId xmlns:a16="http://schemas.microsoft.com/office/drawing/2014/main" id="{9C4F8741-4E50-4C27-869E-ED31EE788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10820400" cy="914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chemeClr val="tx1"/>
                </a:solidFill>
              </a:defRPr>
            </a:pPr>
            <a:r>
              <a:t>Native tables should export through the adapter without helper errors</a:t>
            </a:r>
          </a:p>
        </p:txBody>
      </p:sp>
      <p:graphicFrame>
        <p:nvGraphicFramePr>
          <p:cNvPr id="9" name="judgmentkit-evidence-table"/>
          <p:cNvGraphicFramePr/>
          <p:nvPr/>
        </p:nvGraphicFramePr>
        <p:xfrm>
          <a:off xmlns:a="http://schemas.openxmlformats.org/drawingml/2006/main" x="685800" y="1733550"/>
          <a:ext xmlns:a="http://schemas.openxmlformats.org/drawingml/2006/main" cx="10820400" cy="2952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06800"/>
                <a:gridCol w="3606800"/>
                <a:gridCol w="3606800"/>
              </a:tblGrid>
              <a:tr h="738188">
                <a:tc>
                  <a:txBody>
                    <a:bodyPr/>
                    <a:lstStyle/>
                    <a:p>
                      <a:r>
                        <a:t>Check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Expected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Observed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t>Theme aliases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bg1/lt1 and bg2/lt2 match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Matched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t>Frame export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Elements keep absolute positions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Matched</a:t>
                      </a:r>
                    </a:p>
                  </a:txBody>
                  <a:tcPr marL="91440" marR="91440" marT="45720" marB="45720"/>
                </a:tc>
              </a:tr>
              <a:tr h="738188">
                <a:tc>
                  <a:txBody>
                    <a:bodyPr/>
                    <a:lstStyle/>
                    <a:p>
                      <a:r>
                        <a:t>Readability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Dense copy stays inside panels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Matched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judgmentkit-handoff-receipt-surface">
            <a:extLst xmlns:a="http://schemas.openxmlformats.org/drawingml/2006/main">
              <a:ext uri="{FF2B5EF4-FFF2-40B4-BE49-F238E27FC236}">
                <a16:creationId xmlns:a16="http://schemas.microsoft.com/office/drawing/2014/main" id="{3B83D51D-4E33-4B7F-A29B-1A41CB3F0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38700"/>
            <a:ext cx="10820400" cy="118110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chemeClr val="bg2"/>
          </a:solidFill>
          <a:ln xmlns:a="http://schemas.openxmlformats.org/drawingml/2006/main" w="9525">
            <a:solidFill>
              <a:schemeClr val="accent6"/>
            </a:solidFill>
            <a:prstDash val="solid"/>
          </a:ln>
        </p:spPr>
      </p:sp>
      <p:sp>
        <p:nvSpPr>
          <p:cNvPr id="5" name="judgmentkit-handoff-receipt-title">
            <a:extLst xmlns:a="http://schemas.openxmlformats.org/drawingml/2006/main">
              <a:ext uri="{FF2B5EF4-FFF2-40B4-BE49-F238E27FC236}">
                <a16:creationId xmlns:a16="http://schemas.microsoft.com/office/drawing/2014/main" id="{3DBE748D-38B0-4B3E-9E42-BCC6A7EB6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10150"/>
            <a:ext cx="1047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chemeClr val="tx1"/>
                </a:solidFill>
              </a:defRPr>
            </a:pPr>
            <a:r>
              <a:t>Table outcome</a:t>
            </a:r>
          </a:p>
        </p:txBody>
      </p:sp>
      <p:sp>
        <p:nvSpPr>
          <p:cNvPr id="6" name="judgmentkit-handoff-receipt-body">
            <a:extLst xmlns:a="http://schemas.openxmlformats.org/drawingml/2006/main">
              <a:ext uri="{FF2B5EF4-FFF2-40B4-BE49-F238E27FC236}">
                <a16:creationId xmlns:a16="http://schemas.microsoft.com/office/drawing/2014/main" id="{02D1ED43-49B6-414C-9B85-0B4245845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67350"/>
            <a:ext cx="1047750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chemeClr val="tx1"/>
                </a:solidFill>
              </a:defRPr>
            </a:pPr>
            <a:r>
              <a:t>This slide exercises the real artifact-tool table helper and exported PPTX import path.</a:t>
            </a:r>
          </a:p>
        </p:txBody>
      </p:sp>
    </p:spTree>
    <p:extLst>
      <p:ext uri="{BB962C8B-B14F-4D97-AF65-F5344CB8AC3E}">
        <p14:creationId xmlns:p14="http://schemas.microsoft.com/office/powerpoint/2010/main" val="1137586105"/>
      </p:ext>
    </p:extLst>
  </p:cSld>
</p:sld>
</file>

<file path=ppt/theme/theme1.xml><?xml version="1.0" encoding="utf-8"?>
<a:theme xmlns:a="http://schemas.openxmlformats.org/drawingml/2006/main" name="ChatGPT">
  <a:themeElements>
    <a:clrScheme name="JudgmentKit Light">
      <a:dk1>
        <a:srgbClr val="171717"/>
      </a:dk1>
      <a:lt1>
        <a:srgbClr val="F8F7F2"/>
      </a:lt1>
      <a:dk2>
        <a:srgbClr val="61615C"/>
      </a:dk2>
      <a:lt2>
        <a:srgbClr val="FFFFFF"/>
      </a:lt2>
      <a:accent1>
        <a:srgbClr val="245F73"/>
      </a:accent1>
      <a:accent2>
        <a:srgbClr val="23615F"/>
      </a:accent2>
      <a:accent3>
        <a:srgbClr val="2E6B48"/>
      </a:accent3>
      <a:accent4>
        <a:srgbClr val="8A5A16"/>
      </a:accent4>
      <a:accent5>
        <a:srgbClr val="8F342F"/>
      </a:accent5>
      <a:accent6>
        <a:srgbClr val="D7D3C8"/>
      </a:accent6>
      <a:hlink>
        <a:srgbClr val="245F73"/>
      </a:hlink>
      <a:folHlink>
        <a:srgbClr val="23615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JudgmentKit Ligh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2026-07-05T01:34:25.0250000Z</dcterms:created>
  <dcterms:modified xsi:type="dcterms:W3CDTF">2026-07-05T01:34:25.0250000Z</dcterms:modified>
</coreProperties>
</file>