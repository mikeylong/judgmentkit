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d84aa2c6624b53" /><Relationship Type="http://schemas.openxmlformats.org/officeDocument/2006/relationships/extended-properties" Target="/docProps/app.xml" Id="R2e87a5f0b3c548a2" /><Relationship Type="http://schemas.openxmlformats.org/officeDocument/2006/relationships/officeDocument" Target="/ppt/presentation.xml" Id="Rf2b6210c46174d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1e394c50b9419e"/>
  </p:sldMasterIdLst>
  <p:notesMasterIdLst>
    <p:notesMasterId xmlns:r="http://schemas.openxmlformats.org/officeDocument/2006/relationships" r:id="Rcb8caa1bf34d4e68"/>
  </p:notesMasterIdLst>
  <p:sldIdLst>
    <p:sldId xmlns:r="http://schemas.openxmlformats.org/officeDocument/2006/relationships" id="256" r:id="R44ff90c9a94f4b24"/>
    <p:sldId xmlns:r="http://schemas.openxmlformats.org/officeDocument/2006/relationships" id="257" r:id="R500c1e6c489e421a"/>
    <p:sldId xmlns:r="http://schemas.openxmlformats.org/officeDocument/2006/relationships" id="258" r:id="Rfe4d35a31ae44203"/>
    <p:sldId xmlns:r="http://schemas.openxmlformats.org/officeDocument/2006/relationships" id="259" r:id="R325345d83ef742a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c2486da9dc4185" /><Relationship Type="http://schemas.openxmlformats.org/officeDocument/2006/relationships/slideMaster" Target="/ppt/slideMasters/slideMaster1.xml" Id="R271e394c50b9419e" /><Relationship Type="http://schemas.openxmlformats.org/officeDocument/2006/relationships/notesMaster" Target="/ppt/notesMasters/notesMaster1.xml" Id="Rcb8caa1bf34d4e68" /><Relationship Type="http://schemas.openxmlformats.org/officeDocument/2006/relationships/presProps" Target="/ppt/presProps.xml" Id="Rf8b9448618574709" /><Relationship Type="http://schemas.openxmlformats.org/officeDocument/2006/relationships/tableStyles" Target="/ppt/tableStyles.xml" Id="Rbadd1693a446410a" /><Relationship Type="http://schemas.openxmlformats.org/officeDocument/2006/relationships/slide" Target="/ppt/slides/slide1.xml" Id="R44ff90c9a94f4b24" /><Relationship Type="http://schemas.openxmlformats.org/officeDocument/2006/relationships/slide" Target="/ppt/slides/slide2.xml" Id="R500c1e6c489e421a" /><Relationship Type="http://schemas.openxmlformats.org/officeDocument/2006/relationships/slide" Target="/ppt/slides/slide3.xml" Id="Rfe4d35a31ae44203" /><Relationship Type="http://schemas.openxmlformats.org/officeDocument/2006/relationships/slide" Target="/ppt/slides/slide4.xml" Id="R325345d83ef742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73d0934271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8F7F2"/>
      </a:lt1>
      <a:dk2>
        <a:srgbClr val="61615C"/>
      </a:dk2>
      <a:lt2>
        <a:srgbClr val="FFFFFF"/>
      </a:lt2>
      <a:accent1>
        <a:srgbClr val="245F73"/>
      </a:accent1>
      <a:accent2>
        <a:srgbClr val="23615F"/>
      </a:accent2>
      <a:accent3>
        <a:srgbClr val="2E6B48"/>
      </a:accent3>
      <a:accent4>
        <a:srgbClr val="8A5A16"/>
      </a:accent4>
      <a:accent5>
        <a:srgbClr val="8F342F"/>
      </a:accent5>
      <a:accent6>
        <a:srgbClr val="D7D3C8"/>
      </a:accent6>
      <a:hlink>
        <a:srgbClr val="245F73"/>
      </a:hlink>
      <a:folHlink>
        <a:srgbClr val="23615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23f7fb6fe4cfb" /><Relationship Type="http://schemas.openxmlformats.org/officeDocument/2006/relationships/notesMaster" Target="/ppt/notesMasters/notesMaster1.xml" Id="Rfabf6f86e75b4a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735fe104654c1d" /><Relationship Type="http://schemas.openxmlformats.org/officeDocument/2006/relationships/notesMaster" Target="/ppt/notesMasters/notesMaster1.xml" Id="Red3e36153f224d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bcfd6a5ead43db" /><Relationship Type="http://schemas.openxmlformats.org/officeDocument/2006/relationships/notesMaster" Target="/ppt/notesMasters/notesMaster1.xml" Id="R2c8a9965320946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5d465c9d644846" /><Relationship Type="http://schemas.openxmlformats.org/officeDocument/2006/relationships/notesMaster" Target="/ppt/notesMasters/notesMaster1.xml" Id="R029094479ba244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e39eb7e5e246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5aea75001749dc" /><Relationship Type="http://schemas.openxmlformats.org/officeDocument/2006/relationships/slideLayout" Target="/ppt/slideLayouts/slideLayout1.xml" Id="R5c798ad9788c43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98ad9788c43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8F7F2"/>
      </a:lt1>
      <a:dk2>
        <a:srgbClr val="61615C"/>
      </a:dk2>
      <a:lt2>
        <a:srgbClr val="FFFFFF"/>
      </a:lt2>
      <a:accent1>
        <a:srgbClr val="245F73"/>
      </a:accent1>
      <a:accent2>
        <a:srgbClr val="23615F"/>
      </a:accent2>
      <a:accent3>
        <a:srgbClr val="2E6B48"/>
      </a:accent3>
      <a:accent4>
        <a:srgbClr val="8A5A16"/>
      </a:accent4>
      <a:accent5>
        <a:srgbClr val="8F342F"/>
      </a:accent5>
      <a:accent6>
        <a:srgbClr val="D7D3C8"/>
      </a:accent6>
      <a:hlink>
        <a:srgbClr val="245F73"/>
      </a:hlink>
      <a:folHlink>
        <a:srgbClr val="23615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13b27d074457d" /><Relationship Type="http://schemas.openxmlformats.org/officeDocument/2006/relationships/notesSlide" Target="/ppt/notesSlides/notesSlide1.xml" Id="R69a691eb68fc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75ec582434a17" /><Relationship Type="http://schemas.openxmlformats.org/officeDocument/2006/relationships/notesSlide" Target="/ppt/notesSlides/notesSlide2.xml" Id="Rba285b6bce6b45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ca3ba2c624255" /><Relationship Type="http://schemas.openxmlformats.org/officeDocument/2006/relationships/chart" Target="/ppt/slides/charts/chart1.xml" Id="Raeca061fd5d94e6d" /><Relationship Type="http://schemas.openxmlformats.org/officeDocument/2006/relationships/notesSlide" Target="/ppt/notesSlides/notesSlide3.xml" Id="R4059deaf026f4f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c14b167264eeb" /><Relationship Type="http://schemas.openxmlformats.org/officeDocument/2006/relationships/notesSlide" Target="/ppt/notesSlides/notesSlide4.xml" Id="Re76ac9550953437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chemeClr val="accent1"/>
            </a:solidFill>
          </c:spPr>
          <c:dLbls/>
          <c:cat>
            <c:strLit>
              <c:ptCount val="3"/>
              <c:pt idx="0">
                <c:v>Theme</c:v>
              </c:pt>
              <c:pt idx="1">
                <c:v>Layout</c:v>
              </c:pt>
              <c:pt idx="2">
                <c:v>QA</c:v>
              </c:pt>
            </c:strLit>
          </c:cat>
          <c:val>
            <c:numLit>
              <c:formatCode>General</c:formatCode>
              <c:ptCount val="3"/>
              <c:pt idx="0">
                <c:v>16</c:v>
              </c:pt>
              <c:pt idx="1">
                <c:v>9</c:v>
              </c:pt>
              <c:pt idx="2">
                <c:v>7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accent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udgmentkit-title-block-eyebrow">
            <a:extLst xmlns:a="http://schemas.openxmlformats.org/drawingml/2006/main">
              <a:ext uri="{FF2B5EF4-FFF2-40B4-BE49-F238E27FC236}">
                <a16:creationId xmlns:a16="http://schemas.microsoft.com/office/drawing/2014/main" id="{21C4F1F8-797B-43BB-B490-7B31870C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PRESENTATION THEME ACTUAL TEST</a:t>
            </a:r>
          </a:p>
        </p:txBody>
      </p:sp>
      <p:sp>
        <p:nvSpPr>
          <p:cNvPr id="2" name="judgmentkit-title-block-title">
            <a:extLst xmlns:a="http://schemas.openxmlformats.org/drawingml/2006/main">
              <a:ext uri="{FF2B5EF4-FFF2-40B4-BE49-F238E27FC236}">
                <a16:creationId xmlns:a16="http://schemas.microsoft.com/office/drawing/2014/main" id="{4D71350C-E7AB-4C75-9C6F-ADB0735B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8204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chemeClr val="tx1"/>
                </a:solidFill>
              </a:defRPr>
            </a:pPr>
            <a:r>
              <a:t>The theme adapter gives decks a usable review structure</a:t>
            </a:r>
          </a:p>
        </p:txBody>
      </p:sp>
      <p:sp>
        <p:nvSpPr>
          <p:cNvPr id="3" name="judgmentkit-title-block-subtitle">
            <a:extLst xmlns:a="http://schemas.openxmlformats.org/drawingml/2006/main">
              <a:ext uri="{FF2B5EF4-FFF2-40B4-BE49-F238E27FC236}">
                <a16:creationId xmlns:a16="http://schemas.microsoft.com/office/drawing/2014/main" id="{81ACF6FA-27DA-4672-BE23-4BEB05C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6477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chemeClr val="tx2"/>
                </a:solidFill>
              </a:defRPr>
            </a:pPr>
            <a:r>
              <a:t>Fixture deck for checking rendered size, component spacing, theme slots, and named text styles.</a:t>
            </a:r>
          </a:p>
        </p:txBody>
      </p:sp>
      <p:sp>
        <p:nvSpPr>
          <p:cNvPr id="4" name="judgmentkit-status-pill-surface">
            <a:extLst xmlns:a="http://schemas.openxmlformats.org/drawingml/2006/main">
              <a:ext uri="{FF2B5EF4-FFF2-40B4-BE49-F238E27FC236}">
                <a16:creationId xmlns:a16="http://schemas.microsoft.com/office/drawing/2014/main" id="{69CADADD-1138-4F8F-94CE-7DC330E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33400"/>
            <a:ext cx="1257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3"/>
            </a:solidFill>
            <a:prstDash val="solid"/>
          </a:ln>
        </p:spPr>
      </p:sp>
      <p:sp>
        <p:nvSpPr>
          <p:cNvPr id="5" name="judgmentkit-status-pill-label">
            <a:extLst xmlns:a="http://schemas.openxmlformats.org/drawingml/2006/main">
              <a:ext uri="{FF2B5EF4-FFF2-40B4-BE49-F238E27FC236}">
                <a16:creationId xmlns:a16="http://schemas.microsoft.com/office/drawing/2014/main" id="{44B65158-DE7B-4C76-8634-CE687441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00075"/>
            <a:ext cx="102870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chemeClr val="accent3"/>
                </a:solidFill>
              </a:defRPr>
            </a:pPr>
            <a:r>
              <a:t>Ready</a:t>
            </a:r>
          </a:p>
        </p:txBody>
      </p:sp>
      <p:sp>
        <p:nvSpPr>
          <p:cNvPr id="6" name="canonical-metric-1-surface">
            <a:extLst xmlns:a="http://schemas.openxmlformats.org/drawingml/2006/main">
              <a:ext uri="{FF2B5EF4-FFF2-40B4-BE49-F238E27FC236}">
                <a16:creationId xmlns:a16="http://schemas.microsoft.com/office/drawing/2014/main" id="{E2E21E4A-6E88-405E-B9BD-1DEC3685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7" name="canonical-metric-1-label">
            <a:extLst xmlns:a="http://schemas.openxmlformats.org/drawingml/2006/main">
              <a:ext uri="{FF2B5EF4-FFF2-40B4-BE49-F238E27FC236}">
                <a16:creationId xmlns:a16="http://schemas.microsoft.com/office/drawing/2014/main" id="{30DA1111-F27B-41ED-80C2-BED2851F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Layouts</a:t>
            </a:r>
          </a:p>
        </p:txBody>
      </p:sp>
      <p:sp>
        <p:nvSpPr>
          <p:cNvPr id="8" name="canonical-metric-1-value">
            <a:extLst xmlns:a="http://schemas.openxmlformats.org/drawingml/2006/main">
              <a:ext uri="{FF2B5EF4-FFF2-40B4-BE49-F238E27FC236}">
                <a16:creationId xmlns:a16="http://schemas.microsoft.com/office/drawing/2014/main" id="{5127E8ED-C5E7-4718-B1DB-E4558F7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2552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chemeClr val="tx1"/>
                </a:solidFill>
              </a:defRPr>
            </a:pPr>
            <a:r>
              <a:t>3</a:t>
            </a:r>
          </a:p>
        </p:txBody>
      </p:sp>
      <p:sp>
        <p:nvSpPr>
          <p:cNvPr id="9" name="canonical-metric-1-detail">
            <a:extLst xmlns:a="http://schemas.openxmlformats.org/drawingml/2006/main">
              <a:ext uri="{FF2B5EF4-FFF2-40B4-BE49-F238E27FC236}">
                <a16:creationId xmlns:a16="http://schemas.microsoft.com/office/drawing/2014/main" id="{B0971819-194E-4D07-94D5-3CF69698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chemeClr val="tx1"/>
                </a:solidFill>
              </a:defRPr>
            </a:pPr>
            <a:r>
              <a:t>Cover, evidence, and chart slides</a:t>
            </a:r>
          </a:p>
        </p:txBody>
      </p:sp>
      <p:sp>
        <p:nvSpPr>
          <p:cNvPr id="10" name="canonical-metric-2-surface">
            <a:extLst xmlns:a="http://schemas.openxmlformats.org/drawingml/2006/main">
              <a:ext uri="{FF2B5EF4-FFF2-40B4-BE49-F238E27FC236}">
                <a16:creationId xmlns:a16="http://schemas.microsoft.com/office/drawing/2014/main" id="{6E6235E3-781A-475F-99DF-A95AD978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291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11" name="canonical-metric-2-label">
            <a:extLst xmlns:a="http://schemas.openxmlformats.org/drawingml/2006/main">
              <a:ext uri="{FF2B5EF4-FFF2-40B4-BE49-F238E27FC236}">
                <a16:creationId xmlns:a16="http://schemas.microsoft.com/office/drawing/2014/main" id="{72076BDA-6654-4518-B64E-2823C4D0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81550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Theme slots</a:t>
            </a:r>
          </a:p>
        </p:txBody>
      </p:sp>
      <p:sp>
        <p:nvSpPr>
          <p:cNvPr id="12" name="canonical-metric-2-value">
            <a:extLst xmlns:a="http://schemas.openxmlformats.org/drawingml/2006/main">
              <a:ext uri="{FF2B5EF4-FFF2-40B4-BE49-F238E27FC236}">
                <a16:creationId xmlns:a16="http://schemas.microsoft.com/office/drawing/2014/main" id="{B097FCB0-DE03-4034-96D4-CE9C79A4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05400"/>
            <a:ext cx="2552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chemeClr val="tx1"/>
                </a:solidFill>
              </a:defRPr>
            </a:pPr>
            <a:r>
              <a:t>16</a:t>
            </a:r>
          </a:p>
        </p:txBody>
      </p:sp>
      <p:sp>
        <p:nvSpPr>
          <p:cNvPr id="13" name="canonical-metric-2-detail">
            <a:extLst xmlns:a="http://schemas.openxmlformats.org/drawingml/2006/main">
              <a:ext uri="{FF2B5EF4-FFF2-40B4-BE49-F238E27FC236}">
                <a16:creationId xmlns:a16="http://schemas.microsoft.com/office/drawing/2014/main" id="{7B448283-7B4D-41B5-A662-D15077CB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721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chemeClr val="tx1"/>
                </a:solidFill>
              </a:defRPr>
            </a:pPr>
            <a:r>
              <a:t>PowerPoint color slots available</a:t>
            </a:r>
          </a:p>
        </p:txBody>
      </p:sp>
      <p:sp>
        <p:nvSpPr>
          <p:cNvPr id="14" name="canonical-metric-3-surface">
            <a:extLst xmlns:a="http://schemas.openxmlformats.org/drawingml/2006/main">
              <a:ext uri="{FF2B5EF4-FFF2-40B4-BE49-F238E27FC236}">
                <a16:creationId xmlns:a16="http://schemas.microsoft.com/office/drawing/2014/main" id="{580C915B-CBD2-4E5D-9B1D-239AF479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15" name="canonical-metric-3-label">
            <a:extLst xmlns:a="http://schemas.openxmlformats.org/drawingml/2006/main">
              <a:ext uri="{FF2B5EF4-FFF2-40B4-BE49-F238E27FC236}">
                <a16:creationId xmlns:a16="http://schemas.microsoft.com/office/drawing/2014/main" id="{F9FA5CA2-C3CE-4321-9239-30E64D50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81550"/>
            <a:ext cx="2552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Styles</a:t>
            </a:r>
          </a:p>
        </p:txBody>
      </p:sp>
      <p:sp>
        <p:nvSpPr>
          <p:cNvPr id="16" name="canonical-metric-3-value">
            <a:extLst xmlns:a="http://schemas.openxmlformats.org/drawingml/2006/main">
              <a:ext uri="{FF2B5EF4-FFF2-40B4-BE49-F238E27FC236}">
                <a16:creationId xmlns:a16="http://schemas.microsoft.com/office/drawing/2014/main" id="{07FB0A50-24C1-4B3A-82E8-3C27CB1A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05400"/>
            <a:ext cx="2552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chemeClr val="tx1"/>
                </a:solidFill>
              </a:defRPr>
            </a:pPr>
            <a:r>
              <a:t>14</a:t>
            </a:r>
          </a:p>
        </p:txBody>
      </p:sp>
      <p:sp>
        <p:nvSpPr>
          <p:cNvPr id="17" name="canonical-metric-3-detail">
            <a:extLst xmlns:a="http://schemas.openxmlformats.org/drawingml/2006/main">
              <a:ext uri="{FF2B5EF4-FFF2-40B4-BE49-F238E27FC236}">
                <a16:creationId xmlns:a16="http://schemas.microsoft.com/office/drawing/2014/main" id="{F934D25A-E55E-47BB-B3CC-C71F55B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772150"/>
            <a:ext cx="25527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chemeClr val="tx1"/>
                </a:solidFill>
              </a:defRPr>
            </a:pPr>
            <a:r>
              <a:t>Named text styles registered</a:t>
            </a:r>
          </a:p>
        </p:txBody>
      </p:sp>
    </p:spTree>
    <p:extLst>
      <p:ext uri="{BB962C8B-B14F-4D97-AF65-F5344CB8AC3E}">
        <p14:creationId xmlns:p14="http://schemas.microsoft.com/office/powerpoint/2010/main" val="15807812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udgmentkit-section-header-label">
            <a:extLst xmlns:a="http://schemas.openxmlformats.org/drawingml/2006/main">
              <a:ext uri="{FF2B5EF4-FFF2-40B4-BE49-F238E27FC236}">
                <a16:creationId xmlns:a16="http://schemas.microsoft.com/office/drawing/2014/main" id="{ADF4E761-3055-4287-BEE6-A63869D9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WHAT TO CHECK</a:t>
            </a:r>
          </a:p>
        </p:txBody>
      </p:sp>
      <p:sp>
        <p:nvSpPr>
          <p:cNvPr id="2" name="judgmentkit-section-header-title">
            <a:extLst xmlns:a="http://schemas.openxmlformats.org/drawingml/2006/main">
              <a:ext uri="{FF2B5EF4-FFF2-40B4-BE49-F238E27FC236}">
                <a16:creationId xmlns:a16="http://schemas.microsoft.com/office/drawing/2014/main" id="{27B79BB1-3284-4E08-96B6-094335E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chemeClr val="tx1"/>
                </a:solidFill>
              </a:defRPr>
            </a:pPr>
            <a:r>
              <a:t>The review components should read as deck content, not UI chrome</a:t>
            </a:r>
          </a:p>
        </p:txBody>
      </p:sp>
      <p:sp>
        <p:nvSpPr>
          <p:cNvPr id="3" name="judgmentkit-evidence-panel-surface">
            <a:extLst xmlns:a="http://schemas.openxmlformats.org/drawingml/2006/main">
              <a:ext uri="{FF2B5EF4-FFF2-40B4-BE49-F238E27FC236}">
                <a16:creationId xmlns:a16="http://schemas.microsoft.com/office/drawing/2014/main" id="{F64B51BA-7827-4141-A1B5-3CD8FB1B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048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4" name="judgmentkit-evidence-panel-title">
            <a:extLst xmlns:a="http://schemas.openxmlformats.org/drawingml/2006/main">
              <a:ext uri="{FF2B5EF4-FFF2-40B4-BE49-F238E27FC236}">
                <a16:creationId xmlns:a16="http://schemas.microsoft.com/office/drawing/2014/main" id="{0E2C70BE-ED76-482E-9EFF-E2F7503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705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Evidence checked</a:t>
            </a:r>
          </a:p>
        </p:txBody>
      </p:sp>
      <p:sp>
        <p:nvSpPr>
          <p:cNvPr id="5" name="judgmentkit-evidence-panel-body">
            <a:extLst xmlns:a="http://schemas.openxmlformats.org/drawingml/2006/main">
              <a:ext uri="{FF2B5EF4-FFF2-40B4-BE49-F238E27FC236}">
                <a16:creationId xmlns:a16="http://schemas.microsoft.com/office/drawing/2014/main" id="{D0A7EE9A-C923-4D50-B297-2B2FEE4C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47053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Theme colors render without raw color literals.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Named text styles stay readable after export.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Frames stay inside the slide after PowerPoint export.</a:t>
            </a:r>
          </a:p>
        </p:txBody>
      </p:sp>
      <p:sp>
        <p:nvSpPr>
          <p:cNvPr id="6" name="judgmentkit-risk-callout-surface">
            <a:extLst xmlns:a="http://schemas.openxmlformats.org/drawingml/2006/main">
              <a:ext uri="{FF2B5EF4-FFF2-40B4-BE49-F238E27FC236}">
                <a16:creationId xmlns:a16="http://schemas.microsoft.com/office/drawing/2014/main" id="{50A562F2-0E38-4E02-8390-981631D4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66900"/>
            <a:ext cx="54864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7" name="judgmentkit-risk-callout-title">
            <a:extLst xmlns:a="http://schemas.openxmlformats.org/drawingml/2006/main">
              <a:ext uri="{FF2B5EF4-FFF2-40B4-BE49-F238E27FC236}">
                <a16:creationId xmlns:a16="http://schemas.microsoft.com/office/drawing/2014/main" id="{368BF0A1-A2E7-4BB5-950E-D4B9CF46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14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Risk</a:t>
            </a:r>
          </a:p>
        </p:txBody>
      </p:sp>
      <p:sp>
        <p:nvSpPr>
          <p:cNvPr id="8" name="judgmentkit-risk-callout-body">
            <a:extLst xmlns:a="http://schemas.openxmlformats.org/drawingml/2006/main">
              <a:ext uri="{FF2B5EF4-FFF2-40B4-BE49-F238E27FC236}">
                <a16:creationId xmlns:a16="http://schemas.microsoft.com/office/drawing/2014/main" id="{4401A2CA-B890-49D1-942C-D23F1E94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5143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Dense layouts can make status and small body text harder to scan.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Long labels should be tested against exported previews.</a:t>
            </a:r>
          </a:p>
        </p:txBody>
      </p:sp>
      <p:sp>
        <p:nvSpPr>
          <p:cNvPr id="9" name="judgmentkit-handoff-receipt-surface">
            <a:extLst xmlns:a="http://schemas.openxmlformats.org/drawingml/2006/main">
              <a:ext uri="{FF2B5EF4-FFF2-40B4-BE49-F238E27FC236}">
                <a16:creationId xmlns:a16="http://schemas.microsoft.com/office/drawing/2014/main" id="{1FB94ED3-E825-4739-847A-17F9714E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10" name="judgmentkit-handoff-receipt-title">
            <a:extLst xmlns:a="http://schemas.openxmlformats.org/drawingml/2006/main">
              <a:ext uri="{FF2B5EF4-FFF2-40B4-BE49-F238E27FC236}">
                <a16:creationId xmlns:a16="http://schemas.microsoft.com/office/drawing/2014/main" id="{E3FC26DD-0E36-46C8-913C-B120F94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Handoff receipt</a:t>
            </a:r>
          </a:p>
        </p:txBody>
      </p:sp>
      <p:sp>
        <p:nvSpPr>
          <p:cNvPr id="11" name="judgmentkit-handoff-receipt-body">
            <a:extLst xmlns:a="http://schemas.openxmlformats.org/drawingml/2006/main">
              <a:ext uri="{FF2B5EF4-FFF2-40B4-BE49-F238E27FC236}">
                <a16:creationId xmlns:a16="http://schemas.microsoft.com/office/drawing/2014/main" id="{8F420854-B1ED-4495-BC5F-5CBC7E95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10477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Accept this deck only if rendered previews preserve margins, hierarchy, and readable evidence copy.</a:t>
            </a:r>
          </a:p>
        </p:txBody>
      </p:sp>
    </p:spTree>
    <p:extLst>
      <p:ext uri="{BB962C8B-B14F-4D97-AF65-F5344CB8AC3E}">
        <p14:creationId xmlns:p14="http://schemas.microsoft.com/office/powerpoint/2010/main" val="3748961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udgmentkit-section-header-label">
            <a:extLst xmlns:a="http://schemas.openxmlformats.org/drawingml/2006/main">
              <a:ext uri="{FF2B5EF4-FFF2-40B4-BE49-F238E27FC236}">
                <a16:creationId xmlns:a16="http://schemas.microsoft.com/office/drawing/2014/main" id="{60AFB422-14A2-4DDA-9760-725448F4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CHART FRAME</a:t>
            </a:r>
          </a:p>
        </p:txBody>
      </p:sp>
      <p:sp>
        <p:nvSpPr>
          <p:cNvPr id="2" name="judgmentkit-section-header-title">
            <a:extLst xmlns:a="http://schemas.openxmlformats.org/drawingml/2006/main">
              <a:ext uri="{FF2B5EF4-FFF2-40B4-BE49-F238E27FC236}">
                <a16:creationId xmlns:a16="http://schemas.microsoft.com/office/drawing/2014/main" id="{97197181-E4AC-4041-B52E-175A69BD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chemeClr val="tx1"/>
                </a:solidFill>
              </a:defRPr>
            </a:pPr>
            <a:r>
              <a:t>A native chart should sit cleanly inside an adapter media frame</a:t>
            </a:r>
          </a:p>
        </p:txBody>
      </p:sp>
      <p:sp>
        <p:nvSpPr>
          <p:cNvPr id="3" name="judgmentkit-media-frame">
            <a:extLst xmlns:a="http://schemas.openxmlformats.org/drawingml/2006/main">
              <a:ext uri="{FF2B5EF4-FFF2-40B4-BE49-F238E27FC236}">
                <a16:creationId xmlns:a16="http://schemas.microsoft.com/office/drawing/2014/main" id="{EE31EAB5-3EA4-423E-8B7A-3244A70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219200" y="2286000"/>
          <a:ext xmlns:a="http://schemas.openxmlformats.org/drawingml/2006/main" cx="975360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ca061fd5d94e6d"/>
          </a:graphicData>
        </a:graphic>
      </p:graphicFrame>
    </p:spTree>
    <p:extLst>
      <p:ext uri="{BB962C8B-B14F-4D97-AF65-F5344CB8AC3E}">
        <p14:creationId xmlns:p14="http://schemas.microsoft.com/office/powerpoint/2010/main" val="988533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udgmentkit-section-header-label">
            <a:extLst xmlns:a="http://schemas.openxmlformats.org/drawingml/2006/main">
              <a:ext uri="{FF2B5EF4-FFF2-40B4-BE49-F238E27FC236}">
                <a16:creationId xmlns:a16="http://schemas.microsoft.com/office/drawing/2014/main" id="{9FC2BA84-18FA-4AD3-AE01-FC14CCC7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EVIDENCE TABLE</a:t>
            </a:r>
          </a:p>
        </p:txBody>
      </p:sp>
      <p:sp>
        <p:nvSpPr>
          <p:cNvPr id="2" name="judgmentkit-section-header-title">
            <a:extLst xmlns:a="http://schemas.openxmlformats.org/drawingml/2006/main">
              <a:ext uri="{FF2B5EF4-FFF2-40B4-BE49-F238E27FC236}">
                <a16:creationId xmlns:a16="http://schemas.microsoft.com/office/drawing/2014/main" id="{EA0F2DED-FEC3-4B48-8D20-90E2E565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chemeClr val="tx1"/>
                </a:solidFill>
              </a:defRPr>
            </a:pPr>
            <a:r>
              <a:t>Native tables should export through the adapter without helper errors</a:t>
            </a:r>
          </a:p>
        </p:txBody>
      </p:sp>
      <p:graphicFrame>
        <p:nvGraphicFramePr>
          <p:cNvPr id="9" name="judgmentkit-evidence-table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38188">
                <a:tc>
                  <a:txBody>
                    <a:bodyPr/>
                    <a:lstStyle/>
                    <a:p>
                      <a:r>
                        <a:t>Check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Observed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Theme aliases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bg1/lt1 and bg2/lt2 match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Matched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Frame export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Elements keep absolute positions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Matched</a:t>
                      </a:r>
                    </a:p>
                  </a:txBody>
                  <a:tcPr marL="91440" marR="91440" marT="45720" marB="45720"/>
                </a:tc>
              </a:tr>
              <a:tr h="738188">
                <a:tc>
                  <a:txBody>
                    <a:bodyPr/>
                    <a:lstStyle/>
                    <a:p>
                      <a:r>
                        <a:t>Readability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Dense copy stays inside panels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Matched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judgmentkit-handoff-receipt-surface">
            <a:extLst xmlns:a="http://schemas.openxmlformats.org/drawingml/2006/main">
              <a:ext uri="{FF2B5EF4-FFF2-40B4-BE49-F238E27FC236}">
                <a16:creationId xmlns:a16="http://schemas.microsoft.com/office/drawing/2014/main" id="{E9165E80-DC20-4076-ABBB-0E9F231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5" name="judgmentkit-handoff-receipt-title">
            <a:extLst xmlns:a="http://schemas.openxmlformats.org/drawingml/2006/main">
              <a:ext uri="{FF2B5EF4-FFF2-40B4-BE49-F238E27FC236}">
                <a16:creationId xmlns:a16="http://schemas.microsoft.com/office/drawing/2014/main" id="{14864B90-4AD2-4C89-9B05-9F8C68C4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Table outcome</a:t>
            </a:r>
          </a:p>
        </p:txBody>
      </p:sp>
      <p:sp>
        <p:nvSpPr>
          <p:cNvPr id="6" name="judgmentkit-handoff-receipt-body">
            <a:extLst xmlns:a="http://schemas.openxmlformats.org/drawingml/2006/main">
              <a:ext uri="{FF2B5EF4-FFF2-40B4-BE49-F238E27FC236}">
                <a16:creationId xmlns:a16="http://schemas.microsoft.com/office/drawing/2014/main" id="{45D10446-60D8-44BD-8BBD-B9CFCDF3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67350"/>
            <a:ext cx="1047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This slide exercises the real artifact-tool table helper and exported PPTX import path.</a:t>
            </a:r>
          </a:p>
        </p:txBody>
      </p:sp>
    </p:spTree>
    <p:extLst>
      <p:ext uri="{BB962C8B-B14F-4D97-AF65-F5344CB8AC3E}">
        <p14:creationId xmlns:p14="http://schemas.microsoft.com/office/powerpoint/2010/main" val="45231195"/>
      </p:ext>
    </p:extLst>
  </p:cSld>
</p:sld>
</file>

<file path=ppt/theme/theme1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8F7F2"/>
      </a:lt1>
      <a:dk2>
        <a:srgbClr val="61615C"/>
      </a:dk2>
      <a:lt2>
        <a:srgbClr val="FFFFFF"/>
      </a:lt2>
      <a:accent1>
        <a:srgbClr val="245F73"/>
      </a:accent1>
      <a:accent2>
        <a:srgbClr val="23615F"/>
      </a:accent2>
      <a:accent3>
        <a:srgbClr val="2E6B48"/>
      </a:accent3>
      <a:accent4>
        <a:srgbClr val="8A5A16"/>
      </a:accent4>
      <a:accent5>
        <a:srgbClr val="8F342F"/>
      </a:accent5>
      <a:accent6>
        <a:srgbClr val="D7D3C8"/>
      </a:accent6>
      <a:hlink>
        <a:srgbClr val="245F73"/>
      </a:hlink>
      <a:folHlink>
        <a:srgbClr val="23615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2026-07-04T17:45:49.1700000Z</dcterms:created>
  <dcterms:modified xsi:type="dcterms:W3CDTF">2026-07-04T17:45:49.1700000Z</dcterms:modified>
</coreProperties>
</file>