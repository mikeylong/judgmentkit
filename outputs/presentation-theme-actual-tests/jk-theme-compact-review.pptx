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a472b835e34a75" /><Relationship Type="http://schemas.openxmlformats.org/officeDocument/2006/relationships/extended-properties" Target="/docProps/app.xml" Id="Rd278c46875c840da" /><Relationship Type="http://schemas.openxmlformats.org/officeDocument/2006/relationships/officeDocument" Target="/ppt/presentation.xml" Id="R0ca35f0baaed44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d0b801a8d24c38"/>
  </p:sldMasterIdLst>
  <p:notesMasterIdLst>
    <p:notesMasterId xmlns:r="http://schemas.openxmlformats.org/officeDocument/2006/relationships" r:id="R362d068b357d4e25"/>
  </p:notesMasterIdLst>
  <p:sldIdLst>
    <p:sldId xmlns:r="http://schemas.openxmlformats.org/officeDocument/2006/relationships" id="256" r:id="Rc7fe834c60a940f7"/>
  </p:sldIdLst>
  <p:sldSz cx="9144000" cy="5143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44db191ca64834" /><Relationship Type="http://schemas.openxmlformats.org/officeDocument/2006/relationships/slideMaster" Target="/ppt/slideMasters/slideMaster1.xml" Id="R61d0b801a8d24c38" /><Relationship Type="http://schemas.openxmlformats.org/officeDocument/2006/relationships/notesMaster" Target="/ppt/notesMasters/notesMaster1.xml" Id="R362d068b357d4e25" /><Relationship Type="http://schemas.openxmlformats.org/officeDocument/2006/relationships/presProps" Target="/ppt/presProps.xml" Id="Re06803186975446f" /><Relationship Type="http://schemas.openxmlformats.org/officeDocument/2006/relationships/tableStyles" Target="/ppt/tableStyles.xml" Id="Rd9be523b882542c2" /><Relationship Type="http://schemas.openxmlformats.org/officeDocument/2006/relationships/slide" Target="/ppt/slides/slide1.xml" Id="Rc7fe834c60a940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342e16d62184c5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JudgmentKit Light">
      <a:dk1>
        <a:srgbClr val="171717"/>
      </a:dk1>
      <a:lt1>
        <a:srgbClr val="FFFFFF"/>
      </a:lt1>
      <a:dk2>
        <a:srgbClr val="666666"/>
      </a:dk2>
      <a:lt2>
        <a:srgbClr val="F4F4F4"/>
      </a:lt2>
      <a:accent1>
        <a:srgbClr val="156082"/>
      </a:accent1>
      <a:accent2>
        <a:srgbClr val="467886"/>
      </a:accent2>
      <a:accent3>
        <a:srgbClr val="2E6B48"/>
      </a:accent3>
      <a:accent4>
        <a:srgbClr val="8A5A16"/>
      </a:accent4>
      <a:accent5>
        <a:srgbClr val="8F342F"/>
      </a:accent5>
      <a:accent6>
        <a:srgbClr val="D9D9D9"/>
      </a:accent6>
      <a:hlink>
        <a:srgbClr val="156082"/>
      </a:hlink>
      <a:folHlink>
        <a:srgbClr val="46788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JudgmentKit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fa0c96461834ae3" /><Relationship Type="http://schemas.openxmlformats.org/officeDocument/2006/relationships/notesMaster" Target="/ppt/notesMasters/notesMaster1.xml" Id="R40fad5dbf0204a9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f33fcceaf5449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f0e9ed0edda4fd3" /><Relationship Type="http://schemas.openxmlformats.org/officeDocument/2006/relationships/slideLayout" Target="/ppt/slideLayouts/slideLayout1.xml" Id="R5f24f4080733410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24f4080733410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JudgmentKit Light">
      <a:dk1>
        <a:srgbClr val="171717"/>
      </a:dk1>
      <a:lt1>
        <a:srgbClr val="FFFFFF"/>
      </a:lt1>
      <a:dk2>
        <a:srgbClr val="666666"/>
      </a:dk2>
      <a:lt2>
        <a:srgbClr val="F4F4F4"/>
      </a:lt2>
      <a:accent1>
        <a:srgbClr val="156082"/>
      </a:accent1>
      <a:accent2>
        <a:srgbClr val="467886"/>
      </a:accent2>
      <a:accent3>
        <a:srgbClr val="2E6B48"/>
      </a:accent3>
      <a:accent4>
        <a:srgbClr val="8A5A16"/>
      </a:accent4>
      <a:accent5>
        <a:srgbClr val="8F342F"/>
      </a:accent5>
      <a:accent6>
        <a:srgbClr val="D9D9D9"/>
      </a:accent6>
      <a:hlink>
        <a:srgbClr val="156082"/>
      </a:hlink>
      <a:folHlink>
        <a:srgbClr val="46788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JudgmentKit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99fef9d96b4e5e" /><Relationship Type="http://schemas.openxmlformats.org/officeDocument/2006/relationships/notesSlide" Target="/ppt/notesSlides/notesSlide1.xml" Id="Rbf362ab2b8444b1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judgmentkit-section-header-label">
            <a:extLst xmlns:a="http://schemas.openxmlformats.org/drawingml/2006/main">
              <a:ext uri="{FF2B5EF4-FFF2-40B4-BE49-F238E27FC236}">
                <a16:creationId xmlns:a16="http://schemas.microsoft.com/office/drawing/2014/main" id="{591F20A1-9342-4925-B268-77AA700C8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772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COMPACT REVIEW</a:t>
            </a:r>
          </a:p>
        </p:txBody>
      </p:sp>
      <p:sp>
        <p:nvSpPr>
          <p:cNvPr id="2" name="judgmentkit-section-header-title">
            <a:extLst xmlns:a="http://schemas.openxmlformats.org/drawingml/2006/main">
              <a:ext uri="{FF2B5EF4-FFF2-40B4-BE49-F238E27FC236}">
                <a16:creationId xmlns:a16="http://schemas.microsoft.com/office/drawing/2014/main" id="{7974BF4A-DB03-42E0-958E-7E7D1ECF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77724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chemeClr val="tx1"/>
                </a:solidFill>
              </a:defRPr>
            </a:pPr>
            <a:r>
              <a:t>Compact review needs density controls</a:t>
            </a:r>
          </a:p>
        </p:txBody>
      </p:sp>
      <p:sp>
        <p:nvSpPr>
          <p:cNvPr id="3" name="judgmentkit-evidence-panel-surface">
            <a:extLst xmlns:a="http://schemas.openxmlformats.org/drawingml/2006/main">
              <a:ext uri="{FF2B5EF4-FFF2-40B4-BE49-F238E27FC236}">
                <a16:creationId xmlns:a16="http://schemas.microsoft.com/office/drawing/2014/main" id="{DB6BAC6C-F82B-4E23-8F14-B31EE9BD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377190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4" name="judgmentkit-evidence-panel-title">
            <a:extLst xmlns:a="http://schemas.openxmlformats.org/drawingml/2006/main">
              <a:ext uri="{FF2B5EF4-FFF2-40B4-BE49-F238E27FC236}">
                <a16:creationId xmlns:a16="http://schemas.microsoft.com/office/drawing/2014/main" id="{29AC1229-CEFA-4D90-92DF-D906D4B2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00200"/>
            <a:ext cx="3429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chemeClr val="tx1"/>
                </a:solidFill>
              </a:defRPr>
            </a:pPr>
            <a:r>
              <a:t>Decision evidence</a:t>
            </a:r>
          </a:p>
        </p:txBody>
      </p:sp>
      <p:sp>
        <p:nvSpPr>
          <p:cNvPr id="5" name="judgmentkit-evidence-panel-body">
            <a:extLst xmlns:a="http://schemas.openxmlformats.org/drawingml/2006/main">
              <a:ext uri="{FF2B5EF4-FFF2-40B4-BE49-F238E27FC236}">
                <a16:creationId xmlns:a16="http://schemas.microsoft.com/office/drawing/2014/main" id="{95AA8A5A-7EB0-466F-ACE4-76A164066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57400"/>
            <a:ext cx="3429000" cy="1085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Primary claim is supported.</a:t>
            </a:r>
          </a:p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Temperature trace stayed within bounds.</a:t>
            </a:r>
          </a:p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Handoff owner is named.</a:t>
            </a:r>
          </a:p>
        </p:txBody>
      </p:sp>
      <p:sp>
        <p:nvSpPr>
          <p:cNvPr id="6" name="judgmentkit-risk-callout-surface">
            <a:extLst xmlns:a="http://schemas.openxmlformats.org/drawingml/2006/main">
              <a:ext uri="{FF2B5EF4-FFF2-40B4-BE49-F238E27FC236}">
                <a16:creationId xmlns:a16="http://schemas.microsoft.com/office/drawing/2014/main" id="{EB163A34-EC91-4DB8-8A6A-E6B14119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428750"/>
            <a:ext cx="373380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7" name="judgmentkit-risk-callout-title">
            <a:extLst xmlns:a="http://schemas.openxmlformats.org/drawingml/2006/main">
              <a:ext uri="{FF2B5EF4-FFF2-40B4-BE49-F238E27FC236}">
                <a16:creationId xmlns:a16="http://schemas.microsoft.com/office/drawing/2014/main" id="{3DBC7FAF-2316-48AE-91D6-1B8E35D9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600200"/>
            <a:ext cx="339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chemeClr val="tx1"/>
                </a:solidFill>
              </a:defRPr>
            </a:pPr>
            <a:r>
              <a:t>Watch</a:t>
            </a:r>
          </a:p>
        </p:txBody>
      </p:sp>
      <p:sp>
        <p:nvSpPr>
          <p:cNvPr id="8" name="judgmentkit-risk-callout-body">
            <a:extLst xmlns:a="http://schemas.openxmlformats.org/drawingml/2006/main">
              <a:ext uri="{FF2B5EF4-FFF2-40B4-BE49-F238E27FC236}">
                <a16:creationId xmlns:a16="http://schemas.microsoft.com/office/drawing/2014/main" id="{05546A14-F980-4D9F-BD1C-B1E37986B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57400"/>
            <a:ext cx="3390900" cy="1085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Longer evidence copy can run close to the panel edge.</a:t>
            </a:r>
          </a:p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Small labels become hard to read on the compact canvas.</a:t>
            </a:r>
          </a:p>
        </p:txBody>
      </p:sp>
      <p:sp>
        <p:nvSpPr>
          <p:cNvPr id="9" name="judgmentkit-status-pill-surface">
            <a:extLst xmlns:a="http://schemas.openxmlformats.org/drawingml/2006/main">
              <a:ext uri="{FF2B5EF4-FFF2-40B4-BE49-F238E27FC236}">
                <a16:creationId xmlns:a16="http://schemas.microsoft.com/office/drawing/2014/main" id="{37A0EBD5-7AEE-4E19-BDBA-72E3746E5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733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4"/>
            </a:solidFill>
            <a:prstDash val="solid"/>
          </a:ln>
        </p:spPr>
      </p:sp>
      <p:sp>
        <p:nvSpPr>
          <p:cNvPr id="10" name="judgmentkit-status-pill-label">
            <a:extLst xmlns:a="http://schemas.openxmlformats.org/drawingml/2006/main">
              <a:ext uri="{FF2B5EF4-FFF2-40B4-BE49-F238E27FC236}">
                <a16:creationId xmlns:a16="http://schemas.microsoft.com/office/drawing/2014/main" id="{3D3768C1-4B22-4980-B6A0-72B641A1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29025"/>
            <a:ext cx="1504950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chemeClr val="accent4"/>
                </a:solidFill>
              </a:defRPr>
            </a:pPr>
            <a:r>
              <a:t>Needs readback</a:t>
            </a:r>
          </a:p>
        </p:txBody>
      </p:sp>
      <p:sp>
        <p:nvSpPr>
          <p:cNvPr id="11" name="judgmentkit-handoff-receipt-surface">
            <a:extLst xmlns:a="http://schemas.openxmlformats.org/drawingml/2006/main">
              <a:ext uri="{FF2B5EF4-FFF2-40B4-BE49-F238E27FC236}">
                <a16:creationId xmlns:a16="http://schemas.microsoft.com/office/drawing/2014/main" id="{B4D76092-3066-4B3F-BD5E-FDF7471CC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486150"/>
            <a:ext cx="577215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12" name="judgmentkit-handoff-receipt-title">
            <a:extLst xmlns:a="http://schemas.openxmlformats.org/drawingml/2006/main">
              <a:ext uri="{FF2B5EF4-FFF2-40B4-BE49-F238E27FC236}">
                <a16:creationId xmlns:a16="http://schemas.microsoft.com/office/drawing/2014/main" id="{BED1D8C6-0F15-41F0-A25B-540BFD34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57600"/>
            <a:ext cx="5429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chemeClr val="tx1"/>
                </a:solidFill>
              </a:defRPr>
            </a:pPr>
            <a:r>
              <a:t>Exit state</a:t>
            </a:r>
          </a:p>
        </p:txBody>
      </p:sp>
      <p:sp>
        <p:nvSpPr>
          <p:cNvPr id="13" name="judgmentkit-handoff-receipt-body">
            <a:extLst xmlns:a="http://schemas.openxmlformats.org/drawingml/2006/main">
              <a:ext uri="{FF2B5EF4-FFF2-40B4-BE49-F238E27FC236}">
                <a16:creationId xmlns:a16="http://schemas.microsoft.com/office/drawing/2014/main" id="{D0F92DAE-8A9F-4071-AD43-2618E17D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14800"/>
            <a:ext cx="5429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Reviewer leaves with a clear decision, a named owner, and a short evidence trail.</a:t>
            </a:r>
          </a:p>
        </p:txBody>
      </p:sp>
    </p:spTree>
    <p:extLst>
      <p:ext uri="{BB962C8B-B14F-4D97-AF65-F5344CB8AC3E}">
        <p14:creationId xmlns:p14="http://schemas.microsoft.com/office/powerpoint/2010/main" val="2098365051"/>
      </p:ext>
    </p:extLst>
  </p:cSld>
</p:sld>
</file>

<file path=ppt/theme/theme1.xml><?xml version="1.0" encoding="utf-8"?>
<a:theme xmlns:a="http://schemas.openxmlformats.org/drawingml/2006/main" name="ChatGPT">
  <a:themeElements>
    <a:clrScheme name="JudgmentKit Light">
      <a:dk1>
        <a:srgbClr val="171717"/>
      </a:dk1>
      <a:lt1>
        <a:srgbClr val="FFFFFF"/>
      </a:lt1>
      <a:dk2>
        <a:srgbClr val="666666"/>
      </a:dk2>
      <a:lt2>
        <a:srgbClr val="F4F4F4"/>
      </a:lt2>
      <a:accent1>
        <a:srgbClr val="156082"/>
      </a:accent1>
      <a:accent2>
        <a:srgbClr val="467886"/>
      </a:accent2>
      <a:accent3>
        <a:srgbClr val="2E6B48"/>
      </a:accent3>
      <a:accent4>
        <a:srgbClr val="8A5A16"/>
      </a:accent4>
      <a:accent5>
        <a:srgbClr val="8F342F"/>
      </a:accent5>
      <a:accent6>
        <a:srgbClr val="D9D9D9"/>
      </a:accent6>
      <a:hlink>
        <a:srgbClr val="156082"/>
      </a:hlink>
      <a:folHlink>
        <a:srgbClr val="46788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JudgmentKit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2026-07-05T21:22:01.6490000Z</dcterms:created>
  <dcterms:modified xsi:type="dcterms:W3CDTF">2026-07-05T21:22:01.6490000Z</dcterms:modified>
</coreProperties>
</file>